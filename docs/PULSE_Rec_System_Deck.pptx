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43891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D4ED8"/>
                </a:solidFill>
              </a:rPr>
              <a:t>PULSE</a:t>
            </a:r>
            <a:endParaRPr sz="7200" b="1" i="0">
              <a:solidFill>
                <a:srgbClr val="1D4ED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17627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Voice-Curated Social Discovery</a:t>
            </a:r>
            <a:endParaRPr sz="1800" b="1" i="0">
              <a:solidFill>
                <a:srgbClr val="0F172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System Architecture · Feed Mechanism
Recommendation Engine · Evaluation</a:t>
            </a:r>
            <a:endParaRPr sz="1300" b="0" i="0">
              <a:solidFill>
                <a:srgbClr val="4A5568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3493008"/>
            <a:ext cx="3931920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3931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Stack</a:t>
            </a:r>
            <a:endParaRPr sz="1000" b="0" i="0">
              <a:solidFill>
                <a:srgbClr val="4A556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65960" y="3639312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Rust (Axum) + Flutter PWA</a:t>
            </a:r>
            <a:endParaRPr sz="1100" b="1" i="0">
              <a:solidFill>
                <a:srgbClr val="0F172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4151376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Deployment</a:t>
            </a:r>
            <a:endParaRPr sz="1000" b="0" i="0">
              <a:solidFill>
                <a:srgbClr val="4A5568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65960" y="4151376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Railway · Docker multi-stage</a:t>
            </a:r>
            <a:endParaRPr sz="1100" b="1" i="0">
              <a:solidFill>
                <a:srgbClr val="0F172A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Data source</a:t>
            </a:r>
            <a:endParaRPr sz="1000" b="0" i="0">
              <a:solidFill>
                <a:srgbClr val="4A5568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65960" y="4663440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Google Places API v1 · Yelp Fusion · Eventbrite</a:t>
            </a:r>
            <a:endParaRPr sz="1100" b="1" i="0">
              <a:solidFill>
                <a:srgbClr val="0F172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517550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Evaluation</a:t>
            </a:r>
            <a:endParaRPr sz="1000" b="0" i="0">
              <a:solidFill>
                <a:srgbClr val="4A5568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65960" y="5175504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Run 001 · 2026-04-30 · 15 queries</a:t>
            </a:r>
            <a:endParaRPr sz="1100" b="1" i="0">
              <a:solidFill>
                <a:srgbClr val="0F172A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568756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Context</a:t>
            </a:r>
            <a:endParaRPr sz="1000" b="0" i="0">
              <a:solidFill>
                <a:srgbClr val="4A5568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65960" y="5687568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University project — academic prototype</a:t>
            </a:r>
            <a:endParaRPr sz="1100" b="1" i="0">
              <a:solidFill>
                <a:srgbClr val="0F172A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53128" y="0"/>
            <a:ext cx="54864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64008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5568"/>
                </a:solidFill>
              </a:rPr>
              <a:t>Table of Contents</a:t>
            </a:r>
            <a:endParaRPr sz="1300" b="1" i="0">
              <a:solidFill>
                <a:srgbClr val="4A5568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46320" y="1143000"/>
            <a:ext cx="6949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</a:rPr>
              <a:t>1  Project Overview</a:t>
            </a:r>
            <a:endParaRPr sz="1500" b="0" i="0">
              <a:solidFill>
                <a:srgbClr val="0F172A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46320" y="1764792"/>
            <a:ext cx="6949440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1856232"/>
            <a:ext cx="6949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</a:rPr>
              <a:t>2  Feed Mechanism</a:t>
            </a:r>
            <a:endParaRPr sz="1500" b="0" i="0">
              <a:solidFill>
                <a:srgbClr val="0F172A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846320" y="2478024"/>
            <a:ext cx="6949440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2569464"/>
            <a:ext cx="6949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</a:rPr>
              <a:t>3  Recommendation Engine</a:t>
            </a:r>
            <a:endParaRPr sz="1500" b="0" i="0">
              <a:solidFill>
                <a:srgbClr val="0F172A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846320" y="3191256"/>
            <a:ext cx="6949440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282696"/>
            <a:ext cx="694944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</a:rPr>
              <a:t>4  Data Sources: </a:t>
            </a:r>
            <a:r>
              <a:rPr lang="en-US" sz="1500" b="0" i="0">
                <a:solidFill>
                  <a:srgbClr val="0F172A"/>
                </a:solidFill>
              </a:rPr>
              <a:t>Google </a:t>
            </a:r>
            <a:r>
              <a:rPr sz="1500" b="0" i="0">
                <a:solidFill>
                  <a:srgbClr val="0F172A"/>
                </a:solidFill>
              </a:rPr>
              <a:t>Places · Yelp · Eventbrite</a:t>
            </a:r>
            <a:endParaRPr sz="1500" b="0" i="0">
              <a:solidFill>
                <a:srgbClr val="0F172A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846320" y="3904487"/>
            <a:ext cx="6949440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3995928"/>
            <a:ext cx="6949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</a:rPr>
              <a:t>5  A/B Test: Without AI vs With AI</a:t>
            </a:r>
            <a:endParaRPr sz="1500" b="0" i="0">
              <a:solidFill>
                <a:srgbClr val="0F172A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846320" y="4617720"/>
            <a:ext cx="6949440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709160"/>
            <a:ext cx="6949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</a:rPr>
              <a:t>6  Results — Run 001</a:t>
            </a:r>
            <a:endParaRPr sz="1500" b="0" i="0">
              <a:solidFill>
                <a:srgbClr val="0F172A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846320" y="5330952"/>
            <a:ext cx="6949440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5422392"/>
            <a:ext cx="6949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</a:rPr>
              <a:t>7  Discussion &amp; Next Steps</a:t>
            </a:r>
            <a:endParaRPr sz="1500" b="0" i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28016"/>
            <a:ext cx="2286000" cy="274320"/>
          </a:xfrm>
          <a:prstGeom prst="rect">
            <a:avLst/>
          </a:prstGeom>
          <a:solidFill>
            <a:srgbClr val="D8E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D4ED8"/>
                </a:solidFill>
              </a:rPr>
              <a:t>1 · PROJECT OVERVIEW</a:t>
            </a:r>
            <a:endParaRPr sz="850" b="1" i="0">
              <a:solidFill>
                <a:srgbClr val="1D4ED8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System Description</a:t>
            </a:r>
            <a:endParaRPr sz="2800" b="1" i="0">
              <a:solidFill>
                <a:srgbClr val="0F172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PULSE is an academic prototype for voice- and text-driven local activity discovery.</a:t>
            </a:r>
            <a:endParaRPr sz="1300" b="0" i="0">
              <a:solidFill>
                <a:srgbClr val="4A556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536192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865376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10789920" cy="314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F172A"/>
                </a:solidFill>
              </a:rPr>
              <a:t>Users submit natural</a:t>
            </a:r>
            <a:r>
              <a:rPr lang="en-US" sz="1450" b="0" i="0">
                <a:solidFill>
                  <a:srgbClr val="0F172A"/>
                </a:solidFill>
              </a:rPr>
              <a:t> </a:t>
            </a:r>
            <a:r>
              <a:rPr sz="1450" b="0" i="0">
                <a:solidFill>
                  <a:srgbClr val="0F172A"/>
                </a:solidFill>
              </a:rPr>
              <a:t>language queries (voice-transcribed or typed) to discover nearby venues and events.</a:t>
            </a:r>
            <a:endParaRPr sz="1450" b="0" i="0">
              <a:solidFill>
                <a:srgbClr val="0F172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2532888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86584"/>
            <a:ext cx="1078992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F172A"/>
                </a:solidFill>
              </a:rPr>
              <a:t>The server queries external APIs (Google Places, Yelp Fusion, Eventbrite) and merges results into a unified Activity model.</a:t>
            </a:r>
            <a:endParaRPr sz="1450" b="0" i="0">
              <a:solidFill>
                <a:srgbClr val="0F172A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1480" y="3200400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054096"/>
            <a:ext cx="1078992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F172A"/>
                </a:solidFill>
              </a:rPr>
              <a:t>An optional large language model (Gemini, OpenRouter, HuggingFace) rewrites the result summary using retrieved context.</a:t>
            </a:r>
            <a:endParaRPr sz="1450" b="0" i="0">
              <a:solidFill>
                <a:srgbClr val="0F172A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11480" y="3867912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721608"/>
            <a:ext cx="1078992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F172A"/>
                </a:solidFill>
              </a:rPr>
              <a:t>A client-side scoring function re-ranks candidates using nine weighted relevance signals before display.</a:t>
            </a:r>
            <a:endParaRPr sz="1450" b="0" i="0">
              <a:solidFill>
                <a:srgbClr val="0F172A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1480" y="4535424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389120"/>
            <a:ext cx="1078992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F172A"/>
                </a:solidFill>
              </a:rPr>
              <a:t>Results are spatially clustered by neighbourhood category and rendered as map overlays and a card list.</a:t>
            </a:r>
            <a:endParaRPr sz="1450" b="0" i="0">
              <a:solidFill>
                <a:srgbClr val="0F172A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11480" y="5202936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056631"/>
            <a:ext cx="10789920" cy="314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0F172A"/>
                </a:solidFill>
              </a:rPr>
              <a:t>No persistent user accounts are maintained  the personalization profile is ephemeral (session-scoped).</a:t>
            </a:r>
            <a:endParaRPr sz="1450" b="0" i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28016"/>
            <a:ext cx="2286000" cy="274320"/>
          </a:xfrm>
          <a:prstGeom prst="rect">
            <a:avLst/>
          </a:prstGeom>
          <a:solidFill>
            <a:srgbClr val="D8E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D4ED8"/>
                </a:solidFill>
              </a:rPr>
              <a:t>1 · PROJECT OVERVIEW</a:t>
            </a:r>
            <a:endParaRPr sz="850" b="1" i="0">
              <a:solidFill>
                <a:srgbClr val="1D4ED8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System Components</a:t>
            </a:r>
            <a:endParaRPr sz="2800" b="1" i="0">
              <a:solidFill>
                <a:srgbClr val="0F172A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536192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691640"/>
            <a:ext cx="3767328" cy="4846320"/>
          </a:xfrm>
          <a:prstGeom prst="rect">
            <a:avLst/>
          </a:prstGeom>
          <a:solidFill>
            <a:srgbClr val="ECF0FB"/>
          </a:solidFill>
          <a:ln w="100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3767328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Rust Core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" y="2157984"/>
            <a:ext cx="3438144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Axum 0.7 </a:t>
            </a:r>
            <a:r>
              <a:rPr lang="en-US" sz="1200" b="0" i="0">
                <a:solidFill>
                  <a:srgbClr val="0F172A"/>
                </a:solidFill>
              </a:rPr>
              <a:t>-</a:t>
            </a:r>
            <a:r>
              <a:rPr sz="1200" b="0" i="0">
                <a:solidFill>
                  <a:srgbClr val="0F172A"/>
                </a:solidFill>
              </a:rPr>
              <a:t> async HTTP server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4632" y="2752344"/>
            <a:ext cx="3438144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StrollCore </a:t>
            </a:r>
            <a:r>
              <a:rPr lang="en-US" sz="1200" b="0" i="0">
                <a:solidFill>
                  <a:srgbClr val="0F172A"/>
                </a:solidFill>
              </a:rPr>
              <a:t>-</a:t>
            </a:r>
            <a:r>
              <a:rPr sz="1200" b="0" i="0">
                <a:solidFill>
                  <a:srgbClr val="0F172A"/>
                </a:solidFill>
              </a:rPr>
              <a:t> domain logic struct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632" y="3346704"/>
            <a:ext cx="3438144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flutter_rust_bridge 1.82 </a:t>
            </a:r>
            <a:r>
              <a:rPr lang="en-US" sz="1200" b="0" i="0">
                <a:solidFill>
                  <a:srgbClr val="0F172A"/>
                </a:solidFill>
              </a:rPr>
              <a:t>-</a:t>
            </a:r>
            <a:r>
              <a:rPr sz="1200" b="0" i="0">
                <a:solidFill>
                  <a:srgbClr val="0F172A"/>
                </a:solidFill>
              </a:rPr>
              <a:t> FFI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4632" y="3941064"/>
            <a:ext cx="3438144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rusqlite (bundled) </a:t>
            </a:r>
            <a:r>
              <a:rPr lang="en-US" sz="1200" b="0" i="0">
                <a:solidFill>
                  <a:srgbClr val="0F172A"/>
                </a:solidFill>
              </a:rPr>
              <a:t>-</a:t>
            </a:r>
            <a:r>
              <a:rPr sz="1200" b="0" i="0">
                <a:solidFill>
                  <a:srgbClr val="0F172A"/>
                </a:solidFill>
              </a:rPr>
              <a:t> SQLite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4632" y="4535424"/>
            <a:ext cx="3438144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Tokio </a:t>
            </a:r>
            <a:r>
              <a:rPr lang="en-US" sz="1200" b="0" i="0">
                <a:solidFill>
                  <a:srgbClr val="0F172A"/>
                </a:solidFill>
              </a:rPr>
              <a:t>-</a:t>
            </a:r>
            <a:r>
              <a:rPr sz="1200" b="0" i="0">
                <a:solidFill>
                  <a:srgbClr val="0F172A"/>
                </a:solidFill>
              </a:rPr>
              <a:t> async runtime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4632" y="5129783"/>
            <a:ext cx="3438144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reqwest </a:t>
            </a:r>
            <a:r>
              <a:rPr lang="en-US" sz="1200" b="0" i="0">
                <a:solidFill>
                  <a:srgbClr val="0F172A"/>
                </a:solidFill>
              </a:rPr>
              <a:t>-</a:t>
            </a:r>
            <a:r>
              <a:rPr sz="1200" b="0" i="0">
                <a:solidFill>
                  <a:srgbClr val="0F172A"/>
                </a:solidFill>
              </a:rPr>
              <a:t> outbound HTTP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79392" y="1691640"/>
            <a:ext cx="3767328" cy="4846320"/>
          </a:xfrm>
          <a:prstGeom prst="rect">
            <a:avLst/>
          </a:prstGeom>
          <a:solidFill>
            <a:srgbClr val="EBF6F3"/>
          </a:solidFill>
          <a:ln w="100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691640"/>
            <a:ext cx="3767328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1737360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Flutter App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43983" y="2157984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Web PWA (primary target)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43983" y="2752344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speech_to_text plugin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43983" y="3346704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HTTP client → /api/* endpoints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43983" y="3941064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DiscoverWorldController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43983" y="4535424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Client-side scorer + clustering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43983" y="5129783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Responsive mobile/desktop layout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238744" y="1691640"/>
            <a:ext cx="3767328" cy="4846320"/>
          </a:xfrm>
          <a:prstGeom prst="rect">
            <a:avLst/>
          </a:prstGeom>
          <a:solidFill>
            <a:srgbClr val="FBF4EB"/>
          </a:solidFill>
          <a:ln w="100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38744" y="1691640"/>
            <a:ext cx="3767328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1737360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Infrastructure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03336" y="2157984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Railway.app container hosting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03336" y="2752344"/>
            <a:ext cx="3438144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Dockerfile </a:t>
            </a:r>
            <a:r>
              <a:rPr lang="en-US" sz="1200" b="0" i="0">
                <a:solidFill>
                  <a:srgbClr val="0F172A"/>
                </a:solidFill>
              </a:rPr>
              <a:t>-</a:t>
            </a:r>
            <a:r>
              <a:rPr sz="1200" b="0" i="0">
                <a:solidFill>
                  <a:srgbClr val="0F172A"/>
                </a:solidFill>
              </a:rPr>
              <a:t> two-stage build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03336" y="3346704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Stage 1: Flutter 3.27.4 web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03336" y="3941064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Stage 2: rust:1.85-slim binary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03336" y="4535424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Runtime: Debian Bookworm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03336" y="5129783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Health check: GET /api/health</a:t>
            </a:r>
            <a:endParaRPr sz="1200" b="0" i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28016"/>
            <a:ext cx="2286000" cy="274320"/>
          </a:xfrm>
          <a:prstGeom prst="rect">
            <a:avLst/>
          </a:prstGeom>
          <a:solidFill>
            <a:srgbClr val="D8E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D4ED8"/>
                </a:solidFill>
              </a:rPr>
              <a:t>1 · PROJECT OVERVIEW</a:t>
            </a:r>
            <a:endParaRPr sz="850" b="1" i="0">
              <a:solidFill>
                <a:srgbClr val="1D4ED8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65992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Request Lifecycle </a:t>
            </a:r>
            <a:r>
              <a:rPr lang="en-US" sz="2800" b="1" i="0">
                <a:solidFill>
                  <a:srgbClr val="0F172A"/>
                </a:solidFill>
              </a:rPr>
              <a:t>- </a:t>
            </a:r>
            <a:r>
              <a:rPr sz="2800" b="1" i="0">
                <a:solidFill>
                  <a:srgbClr val="0F172A"/>
                </a:solidFill>
              </a:rPr>
              <a:t>POST /api/recommend</a:t>
            </a:r>
            <a:endParaRPr sz="2800" b="1" i="0">
              <a:solidFill>
                <a:srgbClr val="0F172A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536192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74320" y="1874519"/>
            <a:ext cx="1737360" cy="914400"/>
          </a:xfrm>
          <a:prstGeom prst="rect">
            <a:avLst/>
          </a:prstGeom>
          <a:solidFill>
            <a:srgbClr val="ECF0FB"/>
          </a:solidFill>
          <a:ln w="100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365760" y="1965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</a:rPr>
              <a:t>Client
(Flutter)</a:t>
            </a:r>
            <a:endParaRPr sz="1100" b="1" i="0">
              <a:solidFill>
                <a:srgbClr val="1D4ED8"/>
              </a:solidFill>
            </a:endParaRP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103120" y="1874519"/>
            <a:ext cx="1737360" cy="914400"/>
          </a:xfrm>
          <a:prstGeom prst="rect">
            <a:avLst/>
          </a:prstGeom>
          <a:solidFill>
            <a:srgbClr val="F2F3F5"/>
          </a:solidFill>
          <a:ln w="100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2194560" y="1965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</a:rPr>
              <a:t>Axum
Router</a:t>
            </a:r>
            <a:endParaRPr sz="1100" b="1" i="0">
              <a:solidFill>
                <a:srgbClr val="64748B"/>
              </a:solidFill>
            </a:endParaRPr>
          </a:p>
        </p:txBody>
      </p:sp>
      <p:sp>
        <p:nvSpPr>
          <p:cNvPr id="10" name="Rectangle 9"/>
          <p:cNvSpPr/>
          <p:nvPr>
            <p:custDataLst>
              <p:tags r:id="rId5"/>
            </p:custDataLst>
          </p:nvPr>
        </p:nvSpPr>
        <p:spPr>
          <a:xfrm>
            <a:off x="3931920" y="1874519"/>
            <a:ext cx="1737360" cy="914400"/>
          </a:xfrm>
          <a:prstGeom prst="rect">
            <a:avLst/>
          </a:prstGeom>
          <a:solidFill>
            <a:srgbClr val="EBECED"/>
          </a:solidFill>
          <a:ln w="100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4023359" y="1965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Source
Selector</a:t>
            </a:r>
            <a:endParaRPr sz="1100" b="1" i="0">
              <a:solidFill>
                <a:srgbClr val="0F172A"/>
              </a:solidFill>
            </a:endParaRPr>
          </a:p>
        </p:txBody>
      </p:sp>
      <p:sp>
        <p:nvSpPr>
          <p:cNvPr id="12" name="Rectangle 11"/>
          <p:cNvSpPr/>
          <p:nvPr>
            <p:custDataLst>
              <p:tags r:id="rId7"/>
            </p:custDataLst>
          </p:nvPr>
        </p:nvSpPr>
        <p:spPr>
          <a:xfrm>
            <a:off x="5760720" y="1874519"/>
            <a:ext cx="1737360" cy="914400"/>
          </a:xfrm>
          <a:prstGeom prst="rect">
            <a:avLst/>
          </a:prstGeom>
          <a:solidFill>
            <a:srgbClr val="ECF0FB"/>
          </a:solidFill>
          <a:ln w="100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5852159" y="1965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</a:rPr>
              <a:t>Google
Places v1</a:t>
            </a:r>
            <a:endParaRPr sz="1100" b="1" i="0">
              <a:solidFill>
                <a:srgbClr val="1D4ED8"/>
              </a:solidFill>
            </a:endParaRPr>
          </a:p>
        </p:txBody>
      </p:sp>
      <p:sp>
        <p:nvSpPr>
          <p:cNvPr id="14" name="Rectangle 13"/>
          <p:cNvSpPr/>
          <p:nvPr>
            <p:custDataLst>
              <p:tags r:id="rId9"/>
            </p:custDataLst>
          </p:nvPr>
        </p:nvSpPr>
        <p:spPr>
          <a:xfrm>
            <a:off x="7589520" y="1874519"/>
            <a:ext cx="1737360" cy="914400"/>
          </a:xfrm>
          <a:prstGeom prst="rect">
            <a:avLst/>
          </a:prstGeom>
          <a:solidFill>
            <a:srgbClr val="FCEDED"/>
          </a:solidFill>
          <a:ln w="100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7680960" y="1965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Yelp
Fusion</a:t>
            </a:r>
            <a:endParaRPr sz="1100" b="1" i="0">
              <a:solidFill>
                <a:srgbClr val="DC2626"/>
              </a:solidFill>
            </a:endParaRPr>
          </a:p>
        </p:txBody>
      </p:sp>
      <p:sp>
        <p:nvSpPr>
          <p:cNvPr id="16" name="Rectangle 15"/>
          <p:cNvSpPr/>
          <p:nvPr>
            <p:custDataLst>
              <p:tags r:id="rId11"/>
            </p:custDataLst>
          </p:nvPr>
        </p:nvSpPr>
        <p:spPr>
          <a:xfrm>
            <a:off x="9418320" y="1874519"/>
            <a:ext cx="1737360" cy="914400"/>
          </a:xfrm>
          <a:prstGeom prst="rect">
            <a:avLst/>
          </a:prstGeom>
          <a:solidFill>
            <a:srgbClr val="FBF4EB"/>
          </a:solidFill>
          <a:ln w="100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9509760" y="1965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Eventbrite
API</a:t>
            </a:r>
            <a:endParaRPr sz="1100" b="1" i="0">
              <a:solidFill>
                <a:srgbClr val="D97706"/>
              </a:solidFill>
            </a:endParaRPr>
          </a:p>
        </p:txBody>
      </p:sp>
      <p:sp>
        <p:nvSpPr>
          <p:cNvPr id="18" name="Rectangle 17"/>
          <p:cNvSpPr/>
          <p:nvPr>
            <p:custDataLst>
              <p:tags r:id="rId13"/>
            </p:custDataLst>
          </p:nvPr>
        </p:nvSpPr>
        <p:spPr>
          <a:xfrm>
            <a:off x="2039111" y="2304288"/>
            <a:ext cx="36576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>
            <p:custDataLst>
              <p:tags r:id="rId14"/>
            </p:custDataLst>
          </p:nvPr>
        </p:nvSpPr>
        <p:spPr>
          <a:xfrm>
            <a:off x="3867911" y="2304288"/>
            <a:ext cx="36576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>
            <p:custDataLst>
              <p:tags r:id="rId15"/>
            </p:custDataLst>
          </p:nvPr>
        </p:nvSpPr>
        <p:spPr>
          <a:xfrm>
            <a:off x="5696712" y="2304288"/>
            <a:ext cx="36576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6"/>
            </p:custDataLst>
          </p:nvPr>
        </p:nvSpPr>
        <p:spPr>
          <a:xfrm>
            <a:off x="7525511" y="2304288"/>
            <a:ext cx="36576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>
            <p:custDataLst>
              <p:tags r:id="rId17"/>
            </p:custDataLst>
          </p:nvPr>
        </p:nvSpPr>
        <p:spPr>
          <a:xfrm>
            <a:off x="9354312" y="2304288"/>
            <a:ext cx="36575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2907792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017520"/>
            <a:ext cx="54864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0632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Step 1 — Source selection</a:t>
            </a:r>
            <a:endParaRPr sz="1200" b="1" i="0">
              <a:solidFill>
                <a:srgbClr val="059669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340156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Source Selector checks which API keys are configured (GOOGLE_PLACES_API_KEY, YELP_API_KEY, EVENTBRITE_TOKEN). All configured sources are queried in parallel; results are merged and deduplicated on name + lat/lng proximity.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20040" y="4160520"/>
            <a:ext cx="54864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Step 2 — Client re-ranking</a:t>
            </a:r>
            <a:endParaRPr sz="1200" b="1" i="0">
              <a:solidFill>
                <a:srgbClr val="1D4ED8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4544568"/>
            <a:ext cx="112471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Merged candidates are returned as a flat list. Flutter's DiscoverWorldController scores each activity with the 9</a:t>
            </a:r>
            <a:r>
              <a:rPr lang="en-US" sz="1200" b="0" i="0">
                <a:solidFill>
                  <a:srgbClr val="0F172A"/>
                </a:solidFill>
              </a:rPr>
              <a:t> </a:t>
            </a:r>
            <a:r>
              <a:rPr sz="1200" b="0" i="0">
                <a:solidFill>
                  <a:srgbClr val="0F172A"/>
                </a:solidFill>
              </a:rPr>
              <a:t>signal weighted scorer and sorts descending. Geo-clusters are computed on the sorted list.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0040" y="5303520"/>
            <a:ext cx="54864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Step 3 — LLM summary (optional)</a:t>
            </a:r>
            <a:endParaRPr sz="1200" b="1" i="0">
              <a:solidFill>
                <a:srgbClr val="D97706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2920" y="5687568"/>
            <a:ext cx="112471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If an LLM provider is configured and responds successfully, the summary field is rewritten. On failure or if no provider is set, a rule-based template (agent.rs) is used. The activity list is not affected by the LLM only the summary text changes.</a:t>
            </a:r>
            <a:endParaRPr sz="1200" b="0" i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28016"/>
            <a:ext cx="2084831" cy="274320"/>
          </a:xfrm>
          <a:prstGeom prst="rect">
            <a:avLst/>
          </a:prstGeom>
          <a:solidFill>
            <a:srgbClr val="D8E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947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D4ED8"/>
                </a:solidFill>
              </a:rPr>
              <a:t>2 · FEED MECHANISM</a:t>
            </a:r>
            <a:endParaRPr sz="850" b="1" i="0">
              <a:solidFill>
                <a:srgbClr val="1D4ED8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Feed Endpoint — GET /api/feed</a:t>
            </a:r>
            <a:endParaRPr sz="2800" b="1" i="0">
              <a:solidFill>
                <a:srgbClr val="0F172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Populates the initial view before the user submits any query.</a:t>
            </a:r>
            <a:endParaRPr sz="1300" b="0" i="0">
              <a:solidFill>
                <a:srgbClr val="4A556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536192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5532120" cy="4462272"/>
          </a:xfrm>
          <a:prstGeom prst="rect">
            <a:avLst/>
          </a:prstGeom>
          <a:solidFill>
            <a:srgbClr val="ECF0FB"/>
          </a:solidFill>
          <a:ln w="100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553212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Live path  (external APIs configured)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2322576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76272"/>
            <a:ext cx="4983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Default search: "popular restaurants bars cafes things to do"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2852928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06624"/>
            <a:ext cx="49834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Sources queried: </a:t>
            </a:r>
            <a:r>
              <a:rPr lang="en-US" sz="1200" b="0" i="0">
                <a:solidFill>
                  <a:srgbClr val="0F172A"/>
                </a:solidFill>
              </a:rPr>
              <a:t>Google </a:t>
            </a:r>
            <a:r>
              <a:rPr sz="1200" b="0" i="0">
                <a:solidFill>
                  <a:srgbClr val="0F172A"/>
                </a:solidFill>
              </a:rPr>
              <a:t>Places + Yelp + Eventbrite (whichever keys are set)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3383280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36976"/>
            <a:ext cx="4983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Results merged, deduplicated, returned as unified Activity list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" y="3913631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7"/>
            <a:ext cx="4983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Trending tags extracted from venue type metadata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4443983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97679"/>
            <a:ext cx="49834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Social posts array is empty no social graph from external APIs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35040" y="1691640"/>
            <a:ext cx="5532120" cy="4462272"/>
          </a:xfrm>
          <a:prstGeom prst="rect">
            <a:avLst/>
          </a:prstGeom>
          <a:solidFill>
            <a:srgbClr val="FCEDED"/>
          </a:solidFill>
          <a:ln w="100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1691640"/>
            <a:ext cx="553212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1344" y="1737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Fallback path  (no keys configured)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99632" y="2322576"/>
            <a:ext cx="7315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2176272"/>
            <a:ext cx="49834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StrollCore.get_personalized_feed() in-memory only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199632" y="2825496"/>
            <a:ext cx="7315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2679191"/>
            <a:ext cx="49834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Keyword intent parser extracts category + subcategory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199632" y="3328416"/>
            <a:ext cx="7315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3182112"/>
            <a:ext cx="49834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Filters from SQLite-seeded corpus, sorts by rating DESC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99632" y="3831336"/>
            <a:ext cx="7315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3685032"/>
            <a:ext cx="49834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Top 8 recommendations returned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199632" y="4334256"/>
            <a:ext cx="7315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4187952"/>
            <a:ext cx="49834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Mock posts from 2 hardcoded Shanghai entries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199632" y="4837176"/>
            <a:ext cx="7315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690872"/>
            <a:ext cx="49834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Trending tags: 8 static hashtags (#WeekendBrunch etc.)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11480" y="6217920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29107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</a:rPr>
              <a:t>Coverage gap observed in Run 001 fallback: only 9/15 queries returned results (60%) vs 15/15 (100%) with Google Places. Subcategory mismatch is the primary cause.</a:t>
            </a:r>
            <a:endParaRPr sz="1100" b="0" i="1">
              <a:solidFill>
                <a:srgbClr val="4A556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28016"/>
            <a:ext cx="1883664" cy="274320"/>
          </a:xfrm>
          <a:prstGeom prst="rect">
            <a:avLst/>
          </a:prstGeom>
          <a:solidFill>
            <a:srgbClr val="D8E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746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D4ED8"/>
                </a:solidFill>
              </a:rPr>
              <a:t>4 · DATA SOURCES</a:t>
            </a:r>
            <a:endParaRPr sz="850" b="1" i="0">
              <a:solidFill>
                <a:srgbClr val="1D4ED8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External Data Sources — Places · Yelp · Eventbrite</a:t>
            </a:r>
            <a:endParaRPr sz="2800" b="1" i="0">
              <a:solidFill>
                <a:srgbClr val="0F172A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536192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691640"/>
            <a:ext cx="3767328" cy="4983480"/>
          </a:xfrm>
          <a:prstGeom prst="rect">
            <a:avLst/>
          </a:prstGeom>
          <a:solidFill>
            <a:srgbClr val="ECF0FB"/>
          </a:solidFill>
          <a:ln w="100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3767328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3545" y="1702435"/>
            <a:ext cx="402018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Google Places</a:t>
            </a:r>
            <a:r>
              <a:rPr lang="en-US" sz="1100" b="1" i="0">
                <a:solidFill>
                  <a:srgbClr val="FFFFFF"/>
                </a:solidFill>
              </a:rPr>
              <a:t>:  </a:t>
            </a:r>
            <a:r>
              <a:rPr sz="1100" b="1" i="0">
                <a:solidFill>
                  <a:srgbClr val="FFFFFF"/>
                </a:solidFill>
              </a:rPr>
              <a:t>Text Search v1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2130552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4ED8"/>
                </a:solidFill>
              </a:rPr>
              <a:t>places.googleapis.com/v1/places:searchText</a:t>
            </a:r>
            <a:endParaRPr sz="900" b="0" i="0">
              <a:solidFill>
                <a:srgbClr val="1D4ED8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Auth: GOOGLE_PLACES_API_KEY</a:t>
            </a:r>
            <a:endParaRPr sz="900" b="0" i="0">
              <a:solidFill>
                <a:srgbClr val="4A5568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688336"/>
            <a:ext cx="3493008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Full-text neural search  understands 'tapas', 'brunch', 'hidden gem'</a:t>
            </a:r>
            <a:endParaRPr sz="1050" b="0" i="0">
              <a:solidFill>
                <a:srgbClr val="0F172A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182112"/>
            <a:ext cx="3493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Returns: name, rating, review count, price level, photos, hours, editorial summary</a:t>
            </a:r>
            <a:endParaRPr sz="1050" b="0" i="0">
              <a:solidFill>
                <a:srgbClr val="0F172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3675887"/>
            <a:ext cx="3493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Distance computed via Haversine from user location</a:t>
            </a:r>
            <a:endParaRPr sz="1050" b="0" i="0">
              <a:solidFill>
                <a:srgbClr val="0F172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4169664"/>
            <a:ext cx="3493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10 results per query, 5 000 m radius bias</a:t>
            </a:r>
            <a:endParaRPr sz="1050" b="0" i="0">
              <a:solidFill>
                <a:srgbClr val="0F172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3493008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050" b="0" i="0">
              <a:solidFill>
                <a:srgbClr val="0F172A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79392" y="1691640"/>
            <a:ext cx="3767328" cy="4983480"/>
          </a:xfrm>
          <a:prstGeom prst="rect">
            <a:avLst/>
          </a:prstGeom>
          <a:solidFill>
            <a:srgbClr val="FCEDED"/>
          </a:solidFill>
          <a:ln w="100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1691640"/>
            <a:ext cx="3767328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1728216"/>
            <a:ext cx="3493008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Yelp Fusion</a:t>
            </a:r>
            <a:r>
              <a:rPr lang="en-US" sz="1100" b="1" i="0">
                <a:solidFill>
                  <a:srgbClr val="FFFFFF"/>
                </a:solidFill>
              </a:rPr>
              <a:t>:  </a:t>
            </a:r>
            <a:r>
              <a:rPr sz="1100" b="1" i="0">
                <a:solidFill>
                  <a:srgbClr val="FFFFFF"/>
                </a:solidFill>
              </a:rPr>
              <a:t>Business Search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16552" y="2130552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2626"/>
                </a:solidFill>
              </a:rPr>
              <a:t>api.yelp.com/v3/businesses/search</a:t>
            </a:r>
            <a:endParaRPr sz="900" b="0" i="0">
              <a:solidFill>
                <a:srgbClr val="DC2626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16552" y="237744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Auth: YELP_API_KEY  (Bearer token)</a:t>
            </a:r>
            <a:endParaRPr sz="900" b="0" i="0">
              <a:solidFill>
                <a:srgbClr val="4A5568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16552" y="2688336"/>
            <a:ext cx="3493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Keyword + category search with radius and sort options</a:t>
            </a:r>
            <a:endParaRPr sz="1050" b="0" i="0">
              <a:solidFill>
                <a:srgbClr val="0F172A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16552" y="3182112"/>
            <a:ext cx="3493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Returns: name, rating, review count, price, categories, coordinates</a:t>
            </a:r>
            <a:endParaRPr sz="1050" b="0" i="0">
              <a:solidFill>
                <a:srgbClr val="0F172A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16552" y="3675887"/>
            <a:ext cx="3493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Rich category taxonomy (700+ categories) vs Places' type list</a:t>
            </a:r>
            <a:endParaRPr sz="1050" b="0" i="0">
              <a:solidFill>
                <a:srgbClr val="0F172A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16552" y="4169664"/>
            <a:ext cx="3493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500 calls/day free tier · 10 results per call</a:t>
            </a:r>
            <a:endParaRPr sz="1050" b="0" i="0">
              <a:solidFill>
                <a:srgbClr val="0F172A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16552" y="4663440"/>
            <a:ext cx="3493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Complements Places for food/nightlife coverage</a:t>
            </a:r>
            <a:endParaRPr sz="1050" b="0" i="0">
              <a:solidFill>
                <a:srgbClr val="0F172A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238744" y="1691640"/>
            <a:ext cx="3767328" cy="4983480"/>
          </a:xfrm>
          <a:prstGeom prst="rect">
            <a:avLst/>
          </a:prstGeom>
          <a:solidFill>
            <a:srgbClr val="FBF4EB"/>
          </a:solidFill>
          <a:ln w="100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38744" y="1691640"/>
            <a:ext cx="3767328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5904" y="1728216"/>
            <a:ext cx="3493008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Eventbrite</a:t>
            </a:r>
            <a:r>
              <a:rPr lang="en-US" sz="1100" b="1" i="0">
                <a:solidFill>
                  <a:srgbClr val="FFFFFF"/>
                </a:solidFill>
              </a:rPr>
              <a:t>: </a:t>
            </a:r>
            <a:r>
              <a:rPr sz="1100" b="1" i="0">
                <a:solidFill>
                  <a:srgbClr val="FFFFFF"/>
                </a:solidFill>
              </a:rPr>
              <a:t>Event Search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75904" y="2130552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7706"/>
                </a:solidFill>
              </a:rPr>
              <a:t>www.eventbriteapi.com/v3/events/search/</a:t>
            </a:r>
            <a:endParaRPr sz="900" b="0" i="0">
              <a:solidFill>
                <a:srgbClr val="D97706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75904" y="237744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Auth: EVENTBRITE_TOKEN  (Bearer token)</a:t>
            </a:r>
            <a:endParaRPr sz="900" b="0" i="0">
              <a:solidFill>
                <a:srgbClr val="4A5568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75904" y="2688336"/>
            <a:ext cx="3493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Searches publicly listed events by keyword + lat/lng</a:t>
            </a:r>
            <a:endParaRPr sz="1050" b="0" i="0">
              <a:solidFill>
                <a:srgbClr val="0F172A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75904" y="3182112"/>
            <a:ext cx="3493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Returns: event name, description, start/end time, venue, ticket price</a:t>
            </a:r>
            <a:endParaRPr sz="1050" b="0" i="0">
              <a:solidFill>
                <a:srgbClr val="0F172A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75904" y="3675887"/>
            <a:ext cx="3493008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Adds temporal dimension  events vs static venues</a:t>
            </a:r>
            <a:endParaRPr sz="1050" b="0" i="0">
              <a:solidFill>
                <a:srgbClr val="0F172A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75904" y="4169664"/>
            <a:ext cx="3493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Maps to Activity model with is_open derived from start_time</a:t>
            </a:r>
            <a:endParaRPr sz="1050" b="0" i="0">
              <a:solidFill>
                <a:srgbClr val="0F172A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75904" y="4663440"/>
            <a:ext cx="3493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Free tier available via eventbrite.com/platform/api</a:t>
            </a:r>
            <a:endParaRPr sz="1050" b="0" i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28016"/>
            <a:ext cx="2788920" cy="274320"/>
          </a:xfrm>
          <a:prstGeom prst="rect">
            <a:avLst/>
          </a:prstGeom>
          <a:solidFill>
            <a:srgbClr val="D8E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D4ED8"/>
                </a:solidFill>
              </a:rPr>
              <a:t>3 · RECOMMENDATION ENGINE</a:t>
            </a:r>
            <a:endParaRPr sz="850" b="1" i="0">
              <a:solidFill>
                <a:srgbClr val="1D4ED8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Client-Side Scoring Model</a:t>
            </a:r>
            <a:endParaRPr sz="2800" b="1" i="0">
              <a:solidFill>
                <a:srgbClr val="0F172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09728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5568"/>
                </a:solidFill>
              </a:rPr>
              <a:t>Implemented in DiscoverWorldController._scoreActivity (Flutter).</a:t>
            </a:r>
            <a:endParaRPr sz="1300" b="1" i="0">
              <a:solidFill>
                <a:srgbClr val="4A556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536192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093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5568"/>
                </a:solidFill>
              </a:rPr>
              <a:t>All candidates from all sources are scored with the weighted linear combination below and sorted descending before rendering. Weights are heuristic — not trained.</a:t>
            </a:r>
            <a:endParaRPr sz="1250" b="0" i="0">
              <a:solidFill>
                <a:srgbClr val="4A5568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2048256"/>
          <a:ext cx="111556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914400"/>
                <a:gridCol w="7909560"/>
              </a:tblGrid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Signal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Weight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Computation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Rating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24 %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activity.rating / 5.0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Open now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14 %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Binary: activity.isOpen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Query affinity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14 %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Token overlap: query tokens  ∩  name + description + tags + location fields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Saved by user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14 %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Binary: activity ID present in session save history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Review count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12 %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activity.reviewCount / max(reviewCount across catalog)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Preferred category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11 %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Binary: activity.category in session-inferred preference set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Preferred tags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 8 %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Binary: any tag in session-inferred tag vocabulary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Distance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 7 %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1 / (1 + km)   parsed from pre-formatted distance string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Network affinity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 6 %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</a:rPr>
                        <a:t>Category + tag overlap with followed users' preferences</a:t>
                      </a:r>
                      <a:endParaRPr sz="120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6382512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28016"/>
            <a:ext cx="2788920" cy="274320"/>
          </a:xfrm>
          <a:prstGeom prst="rect">
            <a:avLst/>
          </a:prstGeom>
          <a:solidFill>
            <a:srgbClr val="D8E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D4ED8"/>
                </a:solidFill>
              </a:rPr>
              <a:t>3 · RECOMMENDATION ENGINE</a:t>
            </a:r>
            <a:endParaRPr sz="850" b="1" i="0">
              <a:solidFill>
                <a:srgbClr val="1D4ED8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Clustering, Personalization, and Limitations</a:t>
            </a:r>
            <a:endParaRPr sz="2800" b="1" i="0">
              <a:solidFill>
                <a:srgbClr val="0F172A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536192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691640"/>
            <a:ext cx="5440680" cy="2697480"/>
          </a:xfrm>
          <a:prstGeom prst="rect">
            <a:avLst/>
          </a:prstGeom>
          <a:solidFill>
            <a:srgbClr val="ECF0FB"/>
          </a:solidFill>
          <a:ln w="100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105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D4ED8"/>
                </a:solidFill>
              </a:rPr>
              <a:t>Spatial clustering</a:t>
            </a:r>
            <a:endParaRPr sz="1250" b="1" i="0">
              <a:solidFill>
                <a:srgbClr val="1D4ED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2340864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Cluster ID = category :: neighbourhood  (e.g., food::tribeca)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2743200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9689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Center = mean lat/lng of member activities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3145536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9923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Score = mean of member scores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3547872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Map overlay position normalised to [0.08, 0.92]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" y="3950208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039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Top activity = highest-scoring member per cluster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989320" y="1691640"/>
            <a:ext cx="5532120" cy="2697480"/>
          </a:xfrm>
          <a:prstGeom prst="rect">
            <a:avLst/>
          </a:prstGeom>
          <a:solidFill>
            <a:srgbClr val="EBF6F3"/>
          </a:solidFill>
          <a:ln w="100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18105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59669"/>
                </a:solidFill>
              </a:rPr>
              <a:t>Session-scoped personalization profile</a:t>
            </a:r>
            <a:endParaRPr sz="1250" b="1" i="0">
              <a:solidFill>
                <a:srgbClr val="059669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144768" y="2340864"/>
            <a:ext cx="73152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2194560"/>
            <a:ext cx="5047488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Preferred categories </a:t>
            </a:r>
            <a:r>
              <a:rPr lang="en-US" sz="1200" b="0" i="0">
                <a:solidFill>
                  <a:srgbClr val="0F172A"/>
                </a:solidFill>
              </a:rPr>
              <a:t>- </a:t>
            </a:r>
            <a:r>
              <a:rPr sz="1200" b="0" i="0">
                <a:solidFill>
                  <a:srgbClr val="0F172A"/>
                </a:solidFill>
              </a:rPr>
              <a:t> from feed, trending, social network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44768" y="2743200"/>
            <a:ext cx="73152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2596896"/>
            <a:ext cx="5047488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Preferred tags </a:t>
            </a:r>
            <a:r>
              <a:rPr lang="en-US" sz="1200" b="0" i="0">
                <a:solidFill>
                  <a:srgbClr val="0F172A"/>
                </a:solidFill>
              </a:rPr>
              <a:t>-</a:t>
            </a:r>
            <a:r>
              <a:rPr sz="1200" b="0" i="0">
                <a:solidFill>
                  <a:srgbClr val="0F172A"/>
                </a:solidFill>
              </a:rPr>
              <a:t> from trending and saved-item metadata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144768" y="3145536"/>
            <a:ext cx="73152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2999232"/>
            <a:ext cx="5047488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Saved IDs </a:t>
            </a:r>
            <a:r>
              <a:rPr lang="en-US" sz="1200" b="0" i="0">
                <a:solidFill>
                  <a:srgbClr val="0F172A"/>
                </a:solidFill>
              </a:rPr>
              <a:t>-</a:t>
            </a:r>
            <a:r>
              <a:rPr sz="1200" b="0" i="0">
                <a:solidFill>
                  <a:srgbClr val="0F172A"/>
                </a:solidFill>
              </a:rPr>
              <a:t> user-initiated saves in current session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44768" y="3547872"/>
            <a:ext cx="73152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401568"/>
            <a:ext cx="5047488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Seen IDs </a:t>
            </a:r>
            <a:r>
              <a:rPr lang="en-US" sz="1200" b="0" i="0">
                <a:solidFill>
                  <a:srgbClr val="0F172A"/>
                </a:solidFill>
              </a:rPr>
              <a:t>-</a:t>
            </a:r>
            <a:r>
              <a:rPr sz="1200" b="0" i="0">
                <a:solidFill>
                  <a:srgbClr val="0F172A"/>
                </a:solidFill>
              </a:rPr>
              <a:t> deduplication across refreshes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44768" y="3950208"/>
            <a:ext cx="73152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3803904"/>
            <a:ext cx="5047488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Query history </a:t>
            </a:r>
            <a:r>
              <a:rPr lang="en-US" sz="1200" b="0" i="0">
                <a:solidFill>
                  <a:srgbClr val="0F172A"/>
                </a:solidFill>
              </a:rPr>
              <a:t>-</a:t>
            </a:r>
            <a:r>
              <a:rPr sz="1200" b="0" i="0">
                <a:solidFill>
                  <a:srgbClr val="0F172A"/>
                </a:solidFill>
              </a:rPr>
              <a:t> all submitted queries + result counts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11480" y="4480560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5537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2626"/>
                </a:solidFill>
              </a:rPr>
              <a:t>Identified Limitations</a:t>
            </a:r>
            <a:endParaRPr sz="1250" b="1" i="0">
              <a:solidFill>
                <a:srgbClr val="DC2626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11480" y="4919472"/>
            <a:ext cx="11338560" cy="267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Server-side geo-ranking absent: GeoLocation is parsed but the_location parameter is unused in find_activities.</a:t>
            </a:r>
            <a:endParaRPr sz="1150" b="0" i="0">
              <a:solidFill>
                <a:srgbClr val="0F172A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11480" y="5340096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Ephemeral personalization: preference profile is rebuilt from scratch on every page load.</a:t>
            </a:r>
            <a:endParaRPr sz="1150" b="0" i="0">
              <a:solidFill>
                <a:srgbClr val="0F172A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1480" y="57607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Static trending: the trending list reflects insertion order, not engagement signals.</a:t>
            </a:r>
            <a:endParaRPr sz="1150" b="0" i="0">
              <a:solidFill>
                <a:srgbClr val="0F172A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1480" y="6181344"/>
            <a:ext cx="11338560" cy="267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Coordinate mismatch in mock path: corpus hardcoded t; client defaults to New York.</a:t>
            </a:r>
            <a:endParaRPr sz="1150" b="0" i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28016"/>
            <a:ext cx="1481328" cy="274320"/>
          </a:xfrm>
          <a:prstGeom prst="rect">
            <a:avLst/>
          </a:prstGeom>
          <a:solidFill>
            <a:srgbClr val="F5E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</a:rPr>
              <a:t>5 · A/B TEST</a:t>
            </a:r>
            <a:endParaRPr sz="850" b="1" i="0">
              <a:solidFill>
                <a:srgbClr val="D9770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A/B Test Design — Without AI vs With AI</a:t>
            </a:r>
            <a:endParaRPr sz="2800" b="1" i="0">
              <a:solidFill>
                <a:srgbClr val="0F172A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536192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0934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The A/B comparison isolates the contribution of external neural search (Google Places) versus the rule-based fallback corpus. Summary text quality is a secondary comparison axis.</a:t>
            </a:r>
            <a:endParaRPr sz="1300" b="0" i="0">
              <a:solidFill>
                <a:srgbClr val="4A5568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2084831"/>
            <a:ext cx="5486400" cy="4462272"/>
          </a:xfrm>
          <a:prstGeom prst="rect">
            <a:avLst/>
          </a:prstGeom>
          <a:solidFill>
            <a:srgbClr val="F2F3F5"/>
          </a:solidFill>
          <a:ln w="100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084831"/>
            <a:ext cx="5486400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13055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Condition A — Without AI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5488" y="252374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Retrieval</a:t>
            </a:r>
            <a:endParaRPr sz="1150" b="0" i="0">
              <a:solidFill>
                <a:srgbClr val="4A5568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92808" y="2523744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</a:rPr>
              <a:t>Rule-based keyword intent parser (agent.rs)</a:t>
            </a:r>
            <a:endParaRPr sz="1150" b="1" i="0">
              <a:solidFill>
                <a:srgbClr val="0F172A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5488" y="298094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Corpus</a:t>
            </a:r>
            <a:endParaRPr sz="1150" b="0" i="0">
              <a:solidFill>
                <a:srgbClr val="4A5568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92808" y="2980944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</a:rPr>
              <a:t>4 hardcoded venues (SQLite mock seed)</a:t>
            </a:r>
            <a:endParaRPr sz="1150" b="1" i="0">
              <a:solidFill>
                <a:srgbClr val="0F172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5488" y="343814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Ranking</a:t>
            </a:r>
            <a:endParaRPr sz="1150" b="0" i="0">
              <a:solidFill>
                <a:srgbClr val="4A5568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92808" y="3438144"/>
            <a:ext cx="3840480" cy="267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</a:rPr>
              <a:t>Rating DESC  no learned signals</a:t>
            </a:r>
            <a:endParaRPr sz="1150" b="1" i="0">
              <a:solidFill>
                <a:srgbClr val="0F172A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5488" y="389534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Summary</a:t>
            </a:r>
            <a:endParaRPr sz="1150" b="0" i="0">
              <a:solidFill>
                <a:srgbClr val="4A5568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92808" y="3895344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</a:rPr>
              <a:t>Template: count + highest-rated + nearest</a:t>
            </a:r>
            <a:endParaRPr sz="1150" b="1" i="0">
              <a:solidFill>
                <a:srgbClr val="0F172A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5488" y="435254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LLM</a:t>
            </a:r>
            <a:endParaRPr sz="1150" b="0" i="0">
              <a:solidFill>
                <a:srgbClr val="4A5568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92808" y="4352544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</a:rPr>
              <a:t>None</a:t>
            </a:r>
            <a:endParaRPr sz="1150" b="1" i="0">
              <a:solidFill>
                <a:srgbClr val="0F172A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5488" y="480974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Server</a:t>
            </a:r>
            <a:endParaRPr sz="1150" b="0" i="0">
              <a:solidFill>
                <a:srgbClr val="4A5568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92808" y="4809744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</a:rPr>
              <a:t>Local (port 8788, no external API key)</a:t>
            </a:r>
            <a:endParaRPr sz="1150" b="1" i="0">
              <a:solidFill>
                <a:srgbClr val="0F172A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35040" y="2084831"/>
            <a:ext cx="5486400" cy="4462272"/>
          </a:xfrm>
          <a:prstGeom prst="rect">
            <a:avLst/>
          </a:prstGeom>
          <a:solidFill>
            <a:srgbClr val="ECF0FB"/>
          </a:solidFill>
          <a:ln w="100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2084831"/>
            <a:ext cx="548640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1344" y="213055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Condition B — With AI (Google Places)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81344" y="252374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Retrieval</a:t>
            </a:r>
            <a:endParaRPr sz="1150" b="0" i="0">
              <a:solidFill>
                <a:srgbClr val="4A5568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98664" y="2523744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</a:rPr>
              <a:t>Google Places Text Search (neural query understanding)</a:t>
            </a:r>
            <a:endParaRPr sz="1150" b="1" i="0">
              <a:solidFill>
                <a:srgbClr val="0F172A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81344" y="298094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Corpus</a:t>
            </a:r>
            <a:endParaRPr sz="1150" b="0" i="0">
              <a:solidFill>
                <a:srgbClr val="4A5568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98664" y="2980944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</a:rPr>
              <a:t>Live venues, unlimited, globally indexed</a:t>
            </a:r>
            <a:endParaRPr sz="1150" b="1" i="0">
              <a:solidFill>
                <a:srgbClr val="0F172A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81344" y="343814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Ranking</a:t>
            </a:r>
            <a:endParaRPr sz="1150" b="0" i="0">
              <a:solidFill>
                <a:srgbClr val="4A5568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98664" y="3438144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</a:rPr>
              <a:t>Google relevance score (opaque) + client re-rank</a:t>
            </a:r>
            <a:endParaRPr sz="1150" b="1" i="0">
              <a:solidFill>
                <a:srgbClr val="0F172A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81344" y="389534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Summary</a:t>
            </a:r>
            <a:endParaRPr sz="1150" b="0" i="0">
              <a:solidFill>
                <a:srgbClr val="4A5568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598664" y="3895344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</a:rPr>
              <a:t>Template: 'Found N places matching &lt;query&gt;'</a:t>
            </a:r>
            <a:endParaRPr sz="1150" b="1" i="0">
              <a:solidFill>
                <a:srgbClr val="0F172A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81344" y="435254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LLM</a:t>
            </a:r>
            <a:endParaRPr sz="1150" b="0" i="0">
              <a:solidFill>
                <a:srgbClr val="4A5568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598664" y="4352544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</a:rPr>
              <a:t>None (keys unavailable at test time)</a:t>
            </a:r>
            <a:endParaRPr sz="1150" b="1" i="0">
              <a:solidFill>
                <a:srgbClr val="0F172A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81344" y="480974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Server</a:t>
            </a:r>
            <a:endParaRPr sz="1150" b="0" i="0">
              <a:solidFill>
                <a:srgbClr val="4A5568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598664" y="4809744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</a:rPr>
              <a:t>Railway production (pulse-production-62b2.up.railway.app)</a:t>
            </a:r>
            <a:endParaRPr sz="1150" b="1" i="0">
              <a:solidFill>
                <a:srgbClr val="0F172A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11480" y="6601968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675120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A5568"/>
                </a:solidFill>
              </a:rPr>
              <a:t>LLM summary comparison (Condition C) deferred — Gemini quota exhausted, OpenRouter key expired. Will be completed once API access is restored. Ranking metrics are identical regardless of summary provider.</a:t>
            </a:r>
            <a:endParaRPr sz="1050" b="0" i="1">
              <a:solidFill>
                <a:srgbClr val="4A556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28016"/>
            <a:ext cx="1481328" cy="274320"/>
          </a:xfrm>
          <a:prstGeom prst="rect">
            <a:avLst/>
          </a:prstGeom>
          <a:solidFill>
            <a:srgbClr val="F5E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</a:rPr>
              <a:t>5 · A/B TEST</a:t>
            </a:r>
            <a:endParaRPr sz="850" b="1" i="0">
              <a:solidFill>
                <a:srgbClr val="D9770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A/B Results — Coverage, Depth, and Quality</a:t>
            </a:r>
            <a:endParaRPr sz="2800" b="1" i="0">
              <a:solidFill>
                <a:srgbClr val="0F172A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536192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719072"/>
          <a:ext cx="1078992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651760"/>
                <a:gridCol w="2651760"/>
                <a:gridCol w="25603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Cond. A — No AI (Mock)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Cond. B — With AI (Places)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Difference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Query coverage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9 / 15  (60 %)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15 / 15  (100 %)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+40 pp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Results per query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1 venue  (single match)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10 venues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+9 per query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Unique venues served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4  (hardcoded)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150  (15 × 10, ~0 overlap)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+146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NDCG@5  (server order)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trivial  (1 result)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0.9348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N/A vs 0.935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NDCG@5  (client re-rank)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trivial  (1 result)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0.9615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N/A vs 0.962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Avg latency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2 202 ms  (SQLite I/O)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560 ms  (Places API)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−1 642 ms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Summary quality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Template, </a:t>
                      </a:r>
                      <a:r>
                        <a:rPr lang="en-US" sz="1150" b="0">
                          <a:solidFill>
                            <a:srgbClr val="0F172A"/>
                          </a:solidFill>
                        </a:rPr>
                        <a:t> Mock </a:t>
                      </a:r>
                      <a:r>
                        <a:rPr sz="1150" b="0">
                          <a:solidFill>
                            <a:srgbClr val="0F172A"/>
                          </a:solidFill>
                        </a:rPr>
                        <a:t>venues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Template, neutral count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Both weak — LLM pending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Subcategory failures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6 / 15 return 0 results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0 / 15 failures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A has 40 % null rate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5029200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51023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Interpretation</a:t>
            </a:r>
            <a:endParaRPr sz="1300" b="1" i="0">
              <a:solidFill>
                <a:srgbClr val="0F172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5614416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468112"/>
            <a:ext cx="1078992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Neural retrieval (Condition B) eliminates the 40 % gap caused by the mock corpus' subcategory mismatch  any free-form query returns at least some results.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1480" y="5952744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806440"/>
            <a:ext cx="107899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The rule-based keyword parser (Condition A) is unsuitable as a production retrieval layer with only 4 activities: NDCG@5 cannot be meaningfully compared across conditions.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11480" y="6291072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144768"/>
            <a:ext cx="107899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The client-side re-ranker contributes +0.027 NDCG@5 lift over Google's default ordering (Cond. B), confirming that the open-now, query-affinity, and distance signals add information not captured by Places.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1480" y="6629400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483096"/>
            <a:ext cx="107899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LLM summary comparison (Condition C) remains pending. Latency overhead will be the primary secondary metric when that comparison is executed.</a:t>
            </a:r>
            <a:endParaRPr sz="1200" b="0" i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28016"/>
            <a:ext cx="2386584" cy="274320"/>
          </a:xfrm>
          <a:prstGeom prst="rect">
            <a:avLst/>
          </a:prstGeom>
          <a:solidFill>
            <a:srgbClr val="D5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249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</a:rPr>
              <a:t>6 · RESULTS — RUN 001</a:t>
            </a:r>
            <a:endParaRPr sz="850" b="1" i="0">
              <a:solidFill>
                <a:srgbClr val="059669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Aggregate Results — Condition B (Google Places, provider=local)</a:t>
            </a:r>
            <a:endParaRPr sz="2800" b="1" i="0">
              <a:solidFill>
                <a:srgbClr val="0F172A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536192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737360"/>
            <a:ext cx="2240280" cy="1874519"/>
          </a:xfrm>
          <a:prstGeom prst="rect">
            <a:avLst/>
          </a:prstGeom>
          <a:solidFill>
            <a:srgbClr val="ECF0FB"/>
          </a:solidFill>
          <a:ln w="100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965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D4ED8"/>
                </a:solidFill>
              </a:rPr>
              <a:t>0.9348</a:t>
            </a:r>
            <a:endParaRPr sz="3400" b="1" i="0">
              <a:solidFill>
                <a:srgbClr val="1D4ED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79" y="262432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Server NDCG@5</a:t>
            </a:r>
            <a:endParaRPr sz="1200" b="1" i="0">
              <a:solidFill>
                <a:srgbClr val="0F172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79" y="299008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A5568"/>
                </a:solidFill>
              </a:rPr>
              <a:t>Google Places default order</a:t>
            </a:r>
            <a:endParaRPr sz="950" b="0" i="0">
              <a:solidFill>
                <a:srgbClr val="4A5568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97480" y="1737360"/>
            <a:ext cx="2240280" cy="1874519"/>
          </a:xfrm>
          <a:prstGeom prst="rect">
            <a:avLst/>
          </a:prstGeom>
          <a:solidFill>
            <a:srgbClr val="EBF6F3"/>
          </a:solidFill>
          <a:ln w="100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874519"/>
            <a:ext cx="1965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59669"/>
                </a:solidFill>
              </a:rPr>
              <a:t>0.9615</a:t>
            </a:r>
            <a:endParaRPr sz="3400" b="1" i="0">
              <a:solidFill>
                <a:srgbClr val="059669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88920" y="262432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Client NDCG@5</a:t>
            </a:r>
            <a:endParaRPr sz="1200" b="1" i="0">
              <a:solidFill>
                <a:srgbClr val="0F172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88920" y="299008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A5568"/>
                </a:solidFill>
              </a:rPr>
              <a:t>After 9-signal re-ranking</a:t>
            </a:r>
            <a:endParaRPr sz="950" b="0" i="0">
              <a:solidFill>
                <a:srgbClr val="4A5568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74920" y="1737360"/>
            <a:ext cx="2240280" cy="1874519"/>
          </a:xfrm>
          <a:prstGeom prst="rect">
            <a:avLst/>
          </a:prstGeom>
          <a:solidFill>
            <a:srgbClr val="FBF4EB"/>
          </a:solidFill>
          <a:ln w="100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874519"/>
            <a:ext cx="1965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97706"/>
                </a:solidFill>
              </a:rPr>
              <a:t>+0.027</a:t>
            </a:r>
            <a:endParaRPr sz="3400" b="1" i="0">
              <a:solidFill>
                <a:srgbClr val="D97706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66359" y="262432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NDCG@5 lift</a:t>
            </a:r>
            <a:endParaRPr sz="1200" b="1" i="0">
              <a:solidFill>
                <a:srgbClr val="0F172A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66359" y="299008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A5568"/>
                </a:solidFill>
              </a:rPr>
              <a:t>Client re-rank vs server order</a:t>
            </a:r>
            <a:endParaRPr sz="950" b="0" i="0">
              <a:solidFill>
                <a:srgbClr val="4A5568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52360" y="1737360"/>
            <a:ext cx="2240280" cy="1874519"/>
          </a:xfrm>
          <a:prstGeom prst="rect">
            <a:avLst/>
          </a:prstGeom>
          <a:solidFill>
            <a:srgbClr val="F2F3F5"/>
          </a:solidFill>
          <a:ln w="100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1874519"/>
            <a:ext cx="1965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64748B"/>
                </a:solidFill>
              </a:rPr>
              <a:t>1.000</a:t>
            </a:r>
            <a:endParaRPr sz="3400" b="1" i="0">
              <a:solidFill>
                <a:srgbClr val="64748B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43800" y="262432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Precision@3</a:t>
            </a:r>
            <a:endParaRPr sz="1200" b="1" i="0">
              <a:solidFill>
                <a:srgbClr val="0F172A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43800" y="299008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A5568"/>
                </a:solidFill>
              </a:rPr>
              <a:t>Top-3 relevant in all 15 queries</a:t>
            </a:r>
            <a:endParaRPr sz="950" b="0" i="0">
              <a:solidFill>
                <a:srgbClr val="4A5568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829800" y="1737360"/>
            <a:ext cx="2240280" cy="1874519"/>
          </a:xfrm>
          <a:prstGeom prst="rect">
            <a:avLst/>
          </a:prstGeom>
          <a:solidFill>
            <a:srgbClr val="F2F3F5"/>
          </a:solidFill>
          <a:ln w="100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1874519"/>
            <a:ext cx="1965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64748B"/>
                </a:solidFill>
              </a:rPr>
              <a:t>560 ms</a:t>
            </a:r>
            <a:endParaRPr sz="3400" b="1" i="0">
              <a:solidFill>
                <a:srgbClr val="64748B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21240" y="262432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Avg latency</a:t>
            </a:r>
            <a:endParaRPr sz="1200" b="1" i="0">
              <a:solidFill>
                <a:srgbClr val="0F172A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921240" y="299008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A5568"/>
                </a:solidFill>
              </a:rPr>
              <a:t>15-query mean (p50, target &lt; 1 500 ms)</a:t>
            </a:r>
            <a:endParaRPr sz="950" b="0" i="0">
              <a:solidFill>
                <a:srgbClr val="4A5568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11480" y="3767328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Key findings</a:t>
            </a:r>
            <a:endParaRPr sz="1300" b="1" i="0">
              <a:solidFill>
                <a:srgbClr val="0F172A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11480" y="4370832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22452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Client re-ranking improves NDCG@5 on 12 / 15 queries; largest gains: q08 coffee shop (+0.170), q07 hidden gem (+0.131), q04 craft beer bar (+0.107).</a:t>
            </a:r>
            <a:endParaRPr sz="1300" b="0" i="0">
              <a:solidFill>
                <a:srgbClr val="0F172A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11480" y="4974336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82803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Re-ranking reduces NDCG@5 on 3 queries — q01 best tapas (−0.085), q09 rooftop bar (−0.077), q13 wellness spa (−0.015) — indicating Google's default order was superior for those intents.</a:t>
            </a:r>
            <a:endParaRPr sz="1300" b="0" i="0">
              <a:solidFill>
                <a:srgbClr val="0F172A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11480" y="5577840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43153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Category match rate 0.927 — approximately 1 in 13 results is off-category, primarily in wellness / nightlife due to ambiguous Places type arrays.</a:t>
            </a:r>
            <a:endParaRPr sz="1300" b="0" i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28016"/>
            <a:ext cx="2386584" cy="274320"/>
          </a:xfrm>
          <a:prstGeom prst="rect">
            <a:avLst/>
          </a:prstGeom>
          <a:solidFill>
            <a:srgbClr val="D5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249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</a:rPr>
              <a:t>6 · RESULTS — RUN 001</a:t>
            </a:r>
            <a:endParaRPr sz="850" b="1" i="0">
              <a:solidFill>
                <a:srgbClr val="059669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Per-Query Breakdown — Condition B</a:t>
            </a:r>
            <a:endParaRPr sz="2800" b="1" i="0">
              <a:solidFill>
                <a:srgbClr val="0F172A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536192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664208"/>
          <a:ext cx="10012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383280"/>
                <a:gridCol w="1600200"/>
                <a:gridCol w="1600200"/>
                <a:gridCol w="1280160"/>
                <a:gridCol w="150876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ID</a:t>
                      </a:r>
                      <a:endParaRPr sz="11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Query</a:t>
                      </a:r>
                      <a:endParaRPr sz="11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Server NDCG@5</a:t>
                      </a:r>
                      <a:endParaRPr sz="11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Client NDCG@5</a:t>
                      </a:r>
                      <a:endParaRPr sz="11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Delta</a:t>
                      </a:r>
                      <a:endParaRPr sz="11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Latency</a:t>
                      </a:r>
                      <a:endParaRPr sz="11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q01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best tapas near me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0.9152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0.8304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DC2626"/>
                          </a:solidFill>
                        </a:rPr>
                        <a:t>−0.085</a:t>
                      </a:r>
                      <a:endParaRPr sz="1050" b="1">
                        <a:solidFill>
                          <a:srgbClr val="DC2626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1 184 ms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q02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Italian dinner tonight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1.0000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1.0000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0.000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482 ms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q03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yoga class tomorrow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1.0000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1.0000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0.000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452 ms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q04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craft beer bar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0.8930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1.0000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+0.107</a:t>
                      </a:r>
                      <a:endParaRPr sz="1050" b="1">
                        <a:solidFill>
                          <a:srgbClr val="059669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501 ms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q05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brunch this weekend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0.9152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1.0000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+0.085</a:t>
                      </a:r>
                      <a:endParaRPr sz="1050" b="1">
                        <a:solidFill>
                          <a:srgbClr val="059669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469 ms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q06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contemporary art museum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0.9152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1.0000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+0.085</a:t>
                      </a:r>
                      <a:endParaRPr sz="1050" b="1">
                        <a:solidFill>
                          <a:srgbClr val="059669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574 ms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q07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hidden gem restaurant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0.8688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1.0000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+0.131</a:t>
                      </a:r>
                      <a:endParaRPr sz="1050" b="1">
                        <a:solidFill>
                          <a:srgbClr val="059669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528 ms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q08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coffee shop to work from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0.8304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1.0000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+0.170</a:t>
                      </a:r>
                      <a:endParaRPr sz="1050" b="1">
                        <a:solidFill>
                          <a:srgbClr val="059669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461 ms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q09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rooftop bar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0.9270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0.8496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DC2626"/>
                          </a:solidFill>
                        </a:rPr>
                        <a:t>−0.077</a:t>
                      </a:r>
                      <a:endParaRPr sz="1050" b="1">
                        <a:solidFill>
                          <a:srgbClr val="DC2626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624 ms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q10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japanese ramen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1.0000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1.0000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0.000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426 ms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q11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something fun for two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1.0000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1.0000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0.000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723 ms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q12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late night food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1.0000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1.0000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0.000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483 ms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q13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wellness spa downtown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0.7574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0.7426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DC2626"/>
                          </a:solidFill>
                        </a:rPr>
                        <a:t>−0.015</a:t>
                      </a:r>
                      <a:endParaRPr sz="1050" b="1">
                        <a:solidFill>
                          <a:srgbClr val="DC2626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507 ms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q14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cheap eats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1.0000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1.0000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0.000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493 ms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q15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french bakery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1.0000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1.0000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0.000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</a:rPr>
                        <a:t>  486 ms</a:t>
                      </a:r>
                      <a:endParaRPr sz="10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6400800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64808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A5568"/>
                </a:solidFill>
              </a:rPr>
              <a:t>Negative delta queries (q01, q09, q13): client scorer penalises venues with generic names that have low query-token overlap despite being categorically correct.</a:t>
            </a:r>
            <a:endParaRPr sz="1050" b="0" i="1">
              <a:solidFill>
                <a:srgbClr val="4A5568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28016"/>
            <a:ext cx="2990088" cy="274320"/>
          </a:xfrm>
          <a:prstGeom prst="rect">
            <a:avLst/>
          </a:prstGeom>
          <a:solidFill>
            <a:srgbClr val="D8E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852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D4ED8"/>
                </a:solidFill>
              </a:rPr>
              <a:t>7 · DISCUSSION &amp; NEXT STEPS</a:t>
            </a:r>
            <a:endParaRPr sz="850" b="1" i="0">
              <a:solidFill>
                <a:srgbClr val="1D4ED8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Discussion</a:t>
            </a:r>
            <a:endParaRPr sz="2800" b="1" i="0">
              <a:solidFill>
                <a:srgbClr val="0F172A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536192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719072"/>
            <a:ext cx="54864" cy="1051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Neural retrieval vs rule-based retrieval</a:t>
            </a:r>
            <a:endParaRPr sz="1400" b="1" i="0">
              <a:solidFill>
                <a:srgbClr val="1D4ED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The A/B comparison confirms that Google Places Text Search eliminates the query-coverage failure mode of the keyword parser. The mock corpus (4 venues, subcategory-filtered) cannot serve as a production retrieval layer — it is appropriate only as a development fallback.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0040" y="2926080"/>
            <a:ext cx="54864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962656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</a:rPr>
              <a:t>Client re-ranking adds measurable value over server default</a:t>
            </a:r>
            <a:endParaRPr sz="1400" b="1" i="0">
              <a:solidFill>
                <a:srgbClr val="05966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331012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NDCG@5 improves by +0.027 overall and up to +0.170 on individual queries. Open-now status and query-token affinity are informative signals that Google's ranking does not directly optimise for.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0040" y="4133087"/>
            <a:ext cx="54864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169663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Three queries regress under client re-ranking</a:t>
            </a:r>
            <a:endParaRPr sz="1400" b="1" i="0">
              <a:solidFill>
                <a:srgbClr val="D97706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4517136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Queries q01, q09, q13 score lower after re-ranking. The probable cause is the query-affinity signal penalising venues with generic names (e.g., 'The Rooftop Bar') that have low token overlap despite being categorically correct. A soft-matching or threshold approach may mitigate this.</a:t>
            </a:r>
            <a:endParaRPr sz="1200" b="0" i="0">
              <a:solidFill>
                <a:srgbClr val="0F172A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0040" y="5340096"/>
            <a:ext cx="54864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376672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Evaluation limitations</a:t>
            </a:r>
            <a:endParaRPr sz="1400" b="1" i="0">
              <a:solidFill>
                <a:srgbClr val="DC2626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5724144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Automated relevance labels (rating ≥ 4.0 + category match) are a proxy for true relevance. A human-rated evaluation set of ~50–100 (query, venue) pairs would reduce label noise and enable statistically significant comparisons between system variants.</a:t>
            </a:r>
            <a:endParaRPr sz="1200" b="0" i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28016"/>
            <a:ext cx="2990088" cy="274320"/>
          </a:xfrm>
          <a:prstGeom prst="rect">
            <a:avLst/>
          </a:prstGeom>
          <a:solidFill>
            <a:srgbClr val="D8E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852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D4ED8"/>
                </a:solidFill>
              </a:rPr>
              <a:t>7 · DISCUSSION &amp; NEXT STEPS</a:t>
            </a:r>
            <a:endParaRPr sz="850" b="1" i="0">
              <a:solidFill>
                <a:srgbClr val="1D4ED8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Proposed Improvements</a:t>
            </a:r>
            <a:endParaRPr sz="2800" b="1" i="0">
              <a:solidFill>
                <a:srgbClr val="0F172A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536192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719072"/>
          <a:ext cx="1046988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5943600"/>
                <a:gridCol w="2148840"/>
                <a:gridCol w="16002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Change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Expected lift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Effort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P1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Fix geo-ranking — use GeoLocation in find_activities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+0.05–0.10 NDCG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1 day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P1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Integrate Yelp Fusion API for richer food/nightlife coverage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+coverage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2 days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P1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Integrate Eventbrite API to add event dimension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+coverage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2 days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P1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Trust Google order when Places returns ≥ 8 results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+0.05 NDCG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1 day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P2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Persist personalization profile to local storage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+0.05–0.08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3 days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P2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Expand type-mapping for wellness / nightlife boundary cases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+CMR +0.05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½ day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P2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LLM summary comparison — restore Gemini / OpenRouter access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qualitative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0 days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P3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Replace keyword parser with embedding similarity (MiniLM)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+0.08–0.15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2 weeks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P3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Collect engagement signals (saves, clicks) for trending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+0.04–0.07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3 days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</a:rPr>
                        <a:t>P4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Human-rated evaluation set — ≥ 50 (query, venue) pairs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reduces noise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</a:rPr>
                        <a:t>1 week</a:t>
                      </a:r>
                      <a:endParaRPr sz="1150" b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6291072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35508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</a:rPr>
              <a:t>Yelp Fusion and Eventbrite results will be merged with Google Places results server-side before being passed to the client scorer — no changes to the scoring or clustering logic are required.</a:t>
            </a:r>
            <a:endParaRPr sz="1100" b="0" i="1">
              <a:solidFill>
                <a:srgbClr val="4A5568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33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</a:rPr>
              <a:t>References &amp; Artefacts</a:t>
            </a:r>
            <a:endParaRPr sz="2000" b="1" i="0">
              <a:solidFill>
                <a:srgbClr val="0F172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1298448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Codebase</a:t>
            </a:r>
            <a:endParaRPr sz="1100" b="0" i="0">
              <a:solidFill>
                <a:srgbClr val="4A5568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4600" y="1463040"/>
            <a:ext cx="9052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github.com/MouhamedN96/PULSE  (branch: main)</a:t>
            </a:r>
            <a:endParaRPr sz="1150" b="0" i="0">
              <a:solidFill>
                <a:srgbClr val="0F172A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064240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5681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Live server</a:t>
            </a:r>
            <a:endParaRPr sz="1100" b="0" i="0">
              <a:solidFill>
                <a:srgbClr val="4A556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14600" y="1956816"/>
            <a:ext cx="9052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pulse-production-62b2.up.railway.app</a:t>
            </a:r>
            <a:endParaRPr sz="1150" b="0" i="0">
              <a:solidFill>
                <a:srgbClr val="0F172A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2414016"/>
            <a:ext cx="11064240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5059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Run 001 logs</a:t>
            </a:r>
            <a:endParaRPr sz="1100" b="0" i="0">
              <a:solidFill>
                <a:srgbClr val="4A5568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14600" y="2450592"/>
            <a:ext cx="9052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experiments/logs/places/20260430T051138Z/</a:t>
            </a:r>
            <a:endParaRPr sz="1150" b="0" i="0">
              <a:solidFill>
                <a:srgbClr val="0F172A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2907792"/>
            <a:ext cx="11064240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4436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Run 001 report</a:t>
            </a:r>
            <a:endParaRPr sz="1100" b="0" i="0">
              <a:solidFill>
                <a:srgbClr val="4A5568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14600" y="2944368"/>
            <a:ext cx="9052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experiments/results/places_20260430T051138Z.json</a:t>
            </a:r>
            <a:endParaRPr sz="1150" b="0" i="0">
              <a:solidFill>
                <a:srgbClr val="0F172A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3401568"/>
            <a:ext cx="11064240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3814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Mock run logs</a:t>
            </a:r>
            <a:endParaRPr sz="1100" b="0" i="0">
              <a:solidFill>
                <a:srgbClr val="4A5568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14600" y="3438144"/>
            <a:ext cx="9052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experiments/logs/places/20260430T060406Z/</a:t>
            </a:r>
            <a:endParaRPr sz="1150" b="0" i="0">
              <a:solidFill>
                <a:srgbClr val="0F172A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3895344"/>
            <a:ext cx="11064240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3192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Dashboard</a:t>
            </a:r>
            <a:endParaRPr sz="1100" b="0" i="0">
              <a:solidFill>
                <a:srgbClr val="4A5568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4600" y="3931920"/>
            <a:ext cx="9052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streamlit run scripts/dashboard.py  (localhost:8501)</a:t>
            </a:r>
            <a:endParaRPr sz="1150" b="0" i="0">
              <a:solidFill>
                <a:srgbClr val="0F172A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4389120"/>
            <a:ext cx="11064240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42569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Eval document</a:t>
            </a:r>
            <a:endParaRPr sz="1100" b="0" i="0">
              <a:solidFill>
                <a:srgbClr val="4A5568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14600" y="4425696"/>
            <a:ext cx="9052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docs/FEED_RECOMMENDATION_EVAL.md</a:t>
            </a:r>
            <a:endParaRPr sz="1150" b="0" i="0">
              <a:solidFill>
                <a:srgbClr val="0F172A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7200" y="4882896"/>
            <a:ext cx="11064240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1947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Experiment log</a:t>
            </a:r>
            <a:endParaRPr sz="1100" b="0" i="0">
              <a:solidFill>
                <a:srgbClr val="4A5568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514600" y="4919472"/>
            <a:ext cx="9052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experiments/EXPERIMENT_LOG.md</a:t>
            </a:r>
            <a:endParaRPr sz="1150" b="0" i="0">
              <a:solidFill>
                <a:srgbClr val="0F172A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11480" y="5669280"/>
            <a:ext cx="11365992" cy="118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742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5568"/>
                </a:solidFill>
              </a:rPr>
              <a:t>External references</a:t>
            </a:r>
            <a:endParaRPr sz="1100" b="1" i="0">
              <a:solidFill>
                <a:srgbClr val="4A5568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" y="60533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Järvelin, K. &amp; Kekäläinen, J. (2002). Cumulated gain-based evaluation of IR techniques. ACM TOIS 20(4), 422–446.  ·  Google Places Text Search API: developers.google.com/maps/documentation/places/web-service/text-search  ·  Yelp Fusion API: docs.developer.yelp.com  ·  Eventbrite API: eventbrite.com/platform/api</a:t>
            </a:r>
            <a:endParaRPr sz="1000" b="0" i="0">
              <a:solidFill>
                <a:srgbClr val="4A5568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72.00000000000003,&quot;left&quot;:21.6,&quot;top&quot;:147.59992125984252,&quot;width&quot;:856.8}"/>
</p:tagLst>
</file>

<file path=ppt/tags/tag2.xml><?xml version="1.0" encoding="utf-8"?>
<p:tagLst xmlns:p="http://schemas.openxmlformats.org/presentationml/2006/main">
  <p:tag name="KSO_WM_DIAGRAM_VIRTUALLY_FRAME" val="{&quot;height&quot;:72.00000000000003,&quot;left&quot;:21.6,&quot;top&quot;:147.59992125984252,&quot;width&quot;:856.8}"/>
</p:tagLst>
</file>

<file path=ppt/tags/tag3.xml><?xml version="1.0" encoding="utf-8"?>
<p:tagLst xmlns:p="http://schemas.openxmlformats.org/presentationml/2006/main">
  <p:tag name="KSO_WM_DIAGRAM_VIRTUALLY_FRAME" val="{&quot;height&quot;:72.00000000000003,&quot;left&quot;:21.6,&quot;top&quot;:147.59992125984252,&quot;width&quot;:856.8}"/>
</p:tagLst>
</file>

<file path=ppt/tags/tag4.xml><?xml version="1.0" encoding="utf-8"?>
<p:tagLst xmlns:p="http://schemas.openxmlformats.org/presentationml/2006/main">
  <p:tag name="KSO_WM_DIAGRAM_VIRTUALLY_FRAME" val="{&quot;height&quot;:72.00000000000003,&quot;left&quot;:21.6,&quot;top&quot;:147.59992125984252,&quot;width&quot;:856.8}"/>
</p:tagLst>
</file>

<file path=ppt/tags/tag5.xml><?xml version="1.0" encoding="utf-8"?>
<p:tagLst xmlns:p="http://schemas.openxmlformats.org/presentationml/2006/main">
  <p:tag name="KSO_WM_DIAGRAM_VIRTUALLY_FRAME" val="{&quot;height&quot;:72.00000000000003,&quot;left&quot;:21.6,&quot;top&quot;:147.59992125984252,&quot;width&quot;:856.8}"/>
</p:tagLst>
</file>

<file path=ppt/tags/tag6.xml><?xml version="1.0" encoding="utf-8"?>
<p:tagLst xmlns:p="http://schemas.openxmlformats.org/presentationml/2006/main">
  <p:tag name="KSO_WM_DIAGRAM_VIRTUALLY_FRAME" val="{&quot;height&quot;:72.00000000000003,&quot;left&quot;:21.6,&quot;top&quot;:147.59992125984252,&quot;width&quot;:856.8}"/>
</p:tagLst>
</file>

<file path=ppt/tags/tag7.xml><?xml version="1.0" encoding="utf-8"?>
<p:tagLst xmlns:p="http://schemas.openxmlformats.org/presentationml/2006/main">
  <p:tag name="KSO_WM_DIAGRAM_VIRTUALLY_FRAME" val="{&quot;height&quot;:72.00000000000003,&quot;left&quot;:21.6,&quot;top&quot;:147.59992125984252,&quot;width&quot;:856.8}"/>
</p:tagLst>
</file>

<file path=ppt/tags/tag8.xml><?xml version="1.0" encoding="utf-8"?>
<p:tagLst xmlns:p="http://schemas.openxmlformats.org/presentationml/2006/main">
  <p:tag name="KSO_WM_DIAGRAM_VIRTUALLY_FRAME" val="{&quot;height&quot;:72.00000000000003,&quot;left&quot;:21.6,&quot;top&quot;:147.59992125984252,&quot;width&quot;:856.8}"/>
</p:tagLst>
</file>

<file path=ppt/tags/tag9.xml><?xml version="1.0" encoding="utf-8"?>
<p:tagLst xmlns:p="http://schemas.openxmlformats.org/presentationml/2006/main">
  <p:tag name="KSO_WM_DIAGRAM_VIRTUALLY_FRAME" val="{&quot;height&quot;:72.00000000000003,&quot;left&quot;:21.6,&quot;top&quot;:147.59992125984252,&quot;width&quot;:856.8}"/>
</p:tagLst>
</file>

<file path=ppt/tags/tag10.xml><?xml version="1.0" encoding="utf-8"?>
<p:tagLst xmlns:p="http://schemas.openxmlformats.org/presentationml/2006/main">
  <p:tag name="KSO_WM_DIAGRAM_VIRTUALLY_FRAME" val="{&quot;height&quot;:72.00000000000003,&quot;left&quot;:21.6,&quot;top&quot;:147.59992125984252,&quot;width&quot;:856.8}"/>
</p:tagLst>
</file>

<file path=ppt/tags/tag11.xml><?xml version="1.0" encoding="utf-8"?>
<p:tagLst xmlns:p="http://schemas.openxmlformats.org/presentationml/2006/main">
  <p:tag name="KSO_WM_DIAGRAM_VIRTUALLY_FRAME" val="{&quot;height&quot;:72.00000000000003,&quot;left&quot;:21.6,&quot;top&quot;:147.59992125984252,&quot;width&quot;:856.8}"/>
</p:tagLst>
</file>

<file path=ppt/tags/tag12.xml><?xml version="1.0" encoding="utf-8"?>
<p:tagLst xmlns:p="http://schemas.openxmlformats.org/presentationml/2006/main">
  <p:tag name="KSO_WM_DIAGRAM_VIRTUALLY_FRAME" val="{&quot;height&quot;:72.00000000000003,&quot;left&quot;:21.6,&quot;top&quot;:147.59992125984252,&quot;width&quot;:856.8}"/>
</p:tagLst>
</file>

<file path=ppt/tags/tag13.xml><?xml version="1.0" encoding="utf-8"?>
<p:tagLst xmlns:p="http://schemas.openxmlformats.org/presentationml/2006/main">
  <p:tag name="KSO_WM_DIAGRAM_VIRTUALLY_FRAME" val="{&quot;height&quot;:72.00000000000003,&quot;left&quot;:21.6,&quot;top&quot;:147.59992125984252,&quot;width&quot;:856.8}"/>
</p:tagLst>
</file>

<file path=ppt/tags/tag14.xml><?xml version="1.0" encoding="utf-8"?>
<p:tagLst xmlns:p="http://schemas.openxmlformats.org/presentationml/2006/main">
  <p:tag name="KSO_WM_DIAGRAM_VIRTUALLY_FRAME" val="{&quot;height&quot;:72.00000000000003,&quot;left&quot;:21.6,&quot;top&quot;:147.59992125984252,&quot;width&quot;:856.8}"/>
</p:tagLst>
</file>

<file path=ppt/tags/tag15.xml><?xml version="1.0" encoding="utf-8"?>
<p:tagLst xmlns:p="http://schemas.openxmlformats.org/presentationml/2006/main">
  <p:tag name="KSO_WM_DIAGRAM_VIRTUALLY_FRAME" val="{&quot;height&quot;:72.00000000000003,&quot;left&quot;:21.6,&quot;top&quot;:147.59992125984252,&quot;width&quot;:856.8}"/>
</p:tagLst>
</file>

<file path=ppt/tags/tag16.xml><?xml version="1.0" encoding="utf-8"?>
<p:tagLst xmlns:p="http://schemas.openxmlformats.org/presentationml/2006/main">
  <p:tag name="KSO_WM_DIAGRAM_VIRTUALLY_FRAME" val="{&quot;height&quot;:72.00000000000003,&quot;left&quot;:21.6,&quot;top&quot;:147.59992125984252,&quot;width&quot;:856.8}"/>
</p:tagLst>
</file>

<file path=ppt/tags/tag17.xml><?xml version="1.0" encoding="utf-8"?>
<p:tagLst xmlns:p="http://schemas.openxmlformats.org/presentationml/2006/main">
  <p:tag name="KSO_WM_DIAGRAM_VIRTUALLY_FRAME" val="{&quot;height&quot;:72.00000000000003,&quot;left&quot;:21.6,&quot;top&quot;:147.59992125984252,&quot;width&quot;:856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13847</Words>
  <Application>WPS Presentation</Application>
  <PresentationFormat>On-screen Show (4:3)</PresentationFormat>
  <Paragraphs>862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momo-</cp:lastModifiedBy>
  <cp:revision>3</cp:revision>
  <dcterms:created xsi:type="dcterms:W3CDTF">2013-01-27T09:14:00Z</dcterms:created>
  <dcterms:modified xsi:type="dcterms:W3CDTF">2026-04-30T11:27:21Z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5E5A67AEE599485E8789ED46F7683B49_12</vt:lpwstr>
  </property>
  <property fmtid="{D5CDD505-2E9C-101B-9397-08002B2CF9AE}" pid="3" name="KSOProductBuildVer">
    <vt:lpwstr>2057-12.2.0.23202</vt:lpwstr>
  </property>
</Properties>
</file>