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4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" y="868680"/>
            <a:ext cx="118872" cy="118872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640080"/>
            <a:ext cx="100584" cy="100584"/>
          </a:xfrm>
          <a:prstGeom prst="ellipse">
            <a:avLst/>
          </a:prstGeom>
          <a:solidFill>
            <a:srgbClr val="FF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685800"/>
            <a:ext cx="128016" cy="128016"/>
          </a:xfrm>
          <a:prstGeom prst="ellipse">
            <a:avLst/>
          </a:prstGeom>
          <a:solidFill>
            <a:srgbClr val="B0F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868680"/>
            <a:ext cx="109728" cy="109728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48640"/>
            <a:ext cx="91440" cy="91440"/>
          </a:xfrm>
          <a:prstGeom prst="ellipse">
            <a:avLst/>
          </a:prstGeom>
          <a:solidFill>
            <a:srgbClr val="4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6217920"/>
            <a:ext cx="109728" cy="109728"/>
          </a:xfrm>
          <a:prstGeom prst="ellipse">
            <a:avLst/>
          </a:prstGeom>
          <a:solidFill>
            <a:srgbClr val="FF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0" y="6126480"/>
            <a:ext cx="146304" cy="146304"/>
          </a:xfrm>
          <a:prstGeom prst="ellipse">
            <a:avLst/>
          </a:prstGeom>
          <a:solidFill>
            <a:srgbClr val="B0F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6355080"/>
            <a:ext cx="91440" cy="91440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1005840"/>
            <a:ext cx="3931920" cy="2011680"/>
          </a:xfrm>
          <a:prstGeom prst="roundRect">
            <a:avLst/>
          </a:prstGeom>
          <a:solidFill>
            <a:srgbClr val="213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474720" cy="2194560"/>
          </a:xfrm>
          <a:prstGeom prst="roundRect">
            <a:avLst/>
          </a:prstGeom>
          <a:solidFill>
            <a:srgbClr val="1C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005840"/>
            <a:ext cx="182880" cy="3291840"/>
          </a:xfrm>
          <a:prstGeom prst="rect">
            <a:avLst/>
          </a:prstGeom>
          <a:solidFill>
            <a:srgbClr val="4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914400"/>
            <a:ext cx="6400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STROLL</a:t>
            </a:r>
          </a:p>
          <a:p>
            <a:pPr>
              <a:defRPr sz="2400">
                <a:solidFill>
                  <a:srgbClr val="CBDFFF"/>
                </a:solidFill>
                <a:latin typeface="Segoe UI"/>
              </a:defRPr>
            </a:pPr>
            <a:r>
              <a:t>Building the social copilot for real-world plans</a:t>
            </a:r>
          </a:p>
          <a:p>
            <a:pPr>
              <a:defRPr sz="1700">
                <a:solidFill>
                  <a:srgbClr val="ACC3E7"/>
                </a:solidFill>
                <a:latin typeface="Segoe UI"/>
              </a:defRPr>
            </a:pPr>
            <a:r>
              <a:t>Onboarding deck for teammates, friends, classmates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5257800"/>
            <a:ext cx="4572000" cy="530352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V1 Mission | March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 Friday-Night Problem We All Know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5486400" cy="5394960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960120"/>
            <a:ext cx="5212080" cy="5394960"/>
          </a:xfrm>
          <a:prstGeom prst="roundRect">
            <a:avLst/>
          </a:prstGeom>
          <a:solidFill>
            <a:srgbClr val="EB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9377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53E"/>
                </a:solidFill>
                <a:latin typeface="Segoe UI"/>
              </a:defRPr>
            </a:pPr>
            <a:r>
              <a:t>Scene: Group Chat Chaos</a:t>
            </a:r>
          </a:p>
          <a:p>
            <a:pPr>
              <a:defRPr sz="1900">
                <a:solidFill>
                  <a:srgbClr val="19253E"/>
                </a:solidFill>
                <a:latin typeface="Segoe UI"/>
              </a:defRPr>
            </a:pPr>
            <a:r>
              <a:t>7:43 PM: "What should we do tonight?"</a:t>
            </a:r>
          </a:p>
          <a:p>
            <a:pPr>
              <a:defRPr sz="1900">
                <a:solidFill>
                  <a:srgbClr val="19253E"/>
                </a:solidFill>
                <a:latin typeface="Segoe UI"/>
              </a:defRPr>
            </a:pPr>
            <a:r>
              <a:t>7:50 PM: 30+ messages, no decision</a:t>
            </a:r>
          </a:p>
          <a:p>
            <a:pPr>
              <a:defRPr sz="1900">
                <a:solidFill>
                  <a:srgbClr val="19253E"/>
                </a:solidFill>
                <a:latin typeface="Segoe UI"/>
              </a:defRPr>
            </a:pPr>
            <a:r>
              <a:t>8:05 PM: random links, mixed budgets</a:t>
            </a:r>
          </a:p>
          <a:p>
            <a:pPr>
              <a:defRPr sz="1900">
                <a:solidFill>
                  <a:srgbClr val="19253E"/>
                </a:solidFill>
                <a:latin typeface="Segoe UI"/>
              </a:defRPr>
            </a:pPr>
            <a:r>
              <a:t>8:20 PM: plan fatigue, people drop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234440"/>
            <a:ext cx="4709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53E"/>
                </a:solidFill>
                <a:latin typeface="Segoe UI"/>
              </a:defRPr>
            </a:pPr>
            <a:r>
              <a:t>What It Costs</a:t>
            </a:r>
          </a:p>
          <a:p>
            <a:pPr>
              <a:defRPr sz="2100">
                <a:solidFill>
                  <a:srgbClr val="19253E"/>
                </a:solidFill>
                <a:latin typeface="Segoe UI"/>
              </a:defRPr>
            </a:pPr>
            <a:r>
              <a:t>Less quality time</a:t>
            </a:r>
          </a:p>
          <a:p>
            <a:pPr>
              <a:defRPr sz="2100">
                <a:solidFill>
                  <a:srgbClr val="19253E"/>
                </a:solidFill>
                <a:latin typeface="Segoe UI"/>
              </a:defRPr>
            </a:pPr>
            <a:r>
              <a:t>More decision stress</a:t>
            </a:r>
          </a:p>
          <a:p>
            <a:pPr>
              <a:defRPr sz="2100">
                <a:solidFill>
                  <a:srgbClr val="19253E"/>
                </a:solidFill>
                <a:latin typeface="Segoe UI"/>
              </a:defRPr>
            </a:pPr>
            <a:r>
              <a:t>Same places on repeat</a:t>
            </a:r>
          </a:p>
          <a:p>
            <a:pPr>
              <a:defRPr sz="2100">
                <a:solidFill>
                  <a:srgbClr val="19253E"/>
                </a:solidFill>
                <a:latin typeface="Segoe UI"/>
              </a:defRPr>
            </a:pPr>
            <a:r>
              <a:t>Great local options get missed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What We Are Trying To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0972800" cy="1325880"/>
          </a:xfrm>
          <a:prstGeom prst="roundRect">
            <a:avLst/>
          </a:prstGeom>
          <a:solidFill>
            <a:srgbClr val="D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100" b="1">
                <a:solidFill>
                  <a:srgbClr val="19253E"/>
                </a:solidFill>
                <a:latin typeface="Segoe UI"/>
              </a:defRPr>
            </a:pPr>
            <a:r>
              <a:t>STROLL: a social copilot that turns intent into a plan in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3291840" cy="3200400"/>
          </a:xfrm>
          <a:prstGeom prst="roundRect">
            <a:avLst/>
          </a:prstGeom>
          <a:solidFill>
            <a:srgbClr val="E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035808"/>
            <a:ext cx="28346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Input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Voice/text request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Optional location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Group vibe +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834640"/>
            <a:ext cx="3291840" cy="3200400"/>
          </a:xfrm>
          <a:prstGeom prst="roundRect">
            <a:avLst/>
          </a:prstGeom>
          <a:solidFill>
            <a:srgbClr val="E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3035808"/>
            <a:ext cx="28346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Engine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Rust recommendation logic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SQLite local memory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Optional AI summary provider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834640"/>
            <a:ext cx="3291840" cy="3200400"/>
          </a:xfrm>
          <a:prstGeom prst="roundRect">
            <a:avLst/>
          </a:prstGeom>
          <a:solidFill>
            <a:srgbClr val="E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035808"/>
            <a:ext cx="28346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Outcome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Curated options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Clear summary</a:t>
            </a:r>
          </a:p>
          <a:p>
            <a:pPr>
              <a:defRPr sz="1700">
                <a:solidFill>
                  <a:srgbClr val="19253E"/>
                </a:solidFill>
                <a:latin typeface="Segoe UI"/>
              </a:defRPr>
            </a:pPr>
            <a:r>
              <a:t>Faster yes/no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Analogies That Make It Click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937760" cy="2011680"/>
          </a:xfrm>
          <a:prstGeom prst="roundRect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44805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Like Waze for hangouts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Find the shortest route from "maybe" to "let's go".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4937760" cy="2011680"/>
          </a:xfrm>
          <a:prstGeom prst="roundRect">
            <a:avLst/>
          </a:prstGeom>
          <a:solidFill>
            <a:srgbClr val="FF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280160"/>
            <a:ext cx="44805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Like Spotify playlists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Curated options matched to mood, context, and taste.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4937760" cy="2011680"/>
          </a:xfrm>
          <a:prstGeom prst="roundRect">
            <a:avLst/>
          </a:prstGeom>
          <a:solidFill>
            <a:srgbClr val="B0F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40480"/>
            <a:ext cx="44805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Like a trusted friend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Knows your city and gives practical picks, not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657600"/>
            <a:ext cx="4937760" cy="2011680"/>
          </a:xfrm>
          <a:prstGeom prst="roundRect">
            <a:avLst/>
          </a:prstGeom>
          <a:solidFill>
            <a:srgbClr val="4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840480"/>
            <a:ext cx="44805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Like a tiny team lead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Keeps the group focused and helps decisions land.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Mirror of Daily Life: 12-Minute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337560"/>
            <a:ext cx="10241280" cy="91440"/>
          </a:xfrm>
          <a:prstGeom prst="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3090672"/>
            <a:ext cx="566928" cy="566928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53E"/>
                </a:solidFill>
                <a:latin typeface="Segoe UI"/>
              </a:defRPr>
            </a:pPr>
            <a:r>
              <a:t>8:08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9" y="3749039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53E"/>
                </a:solidFill>
                <a:latin typeface="Segoe UI"/>
              </a:defRPr>
            </a:pPr>
            <a:r>
              <a:t>Ask STROLL</a:t>
            </a:r>
          </a:p>
          <a:p>
            <a:r>
              <a:t>"cheap food + chill"</a:t>
            </a:r>
          </a:p>
        </p:txBody>
      </p:sp>
      <p:sp>
        <p:nvSpPr>
          <p:cNvPr id="7" name="Oval 6"/>
          <p:cNvSpPr/>
          <p:nvPr/>
        </p:nvSpPr>
        <p:spPr>
          <a:xfrm>
            <a:off x="3611880" y="3090672"/>
            <a:ext cx="566928" cy="566928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2240280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53E"/>
                </a:solidFill>
                <a:latin typeface="Segoe UI"/>
              </a:defRPr>
            </a:pPr>
            <a:r>
              <a:t>8:10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749039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53E"/>
                </a:solidFill>
                <a:latin typeface="Segoe UI"/>
              </a:defRPr>
            </a:pPr>
            <a:r>
              <a:t>Intent parsed</a:t>
            </a:r>
          </a:p>
          <a:p>
            <a:r>
              <a:t>fast filtering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3090672"/>
            <a:ext cx="566928" cy="566928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240280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53E"/>
                </a:solidFill>
                <a:latin typeface="Segoe UI"/>
              </a:defRPr>
            </a:pPr>
            <a:r>
              <a:t>8:14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749039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53E"/>
                </a:solidFill>
                <a:latin typeface="Segoe UI"/>
              </a:defRPr>
            </a:pPr>
            <a:r>
              <a:t>Top options</a:t>
            </a:r>
          </a:p>
          <a:p>
            <a:r>
              <a:t>summary shown</a:t>
            </a:r>
          </a:p>
        </p:txBody>
      </p:sp>
      <p:sp>
        <p:nvSpPr>
          <p:cNvPr id="13" name="Oval 12"/>
          <p:cNvSpPr/>
          <p:nvPr/>
        </p:nvSpPr>
        <p:spPr>
          <a:xfrm>
            <a:off x="9006840" y="3090672"/>
            <a:ext cx="566928" cy="566928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19" y="2240280"/>
            <a:ext cx="1143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53E"/>
                </a:solidFill>
                <a:latin typeface="Segoe UI"/>
              </a:defRPr>
            </a:pPr>
            <a:r>
              <a:t>8:20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749039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53E"/>
                </a:solidFill>
                <a:latin typeface="Segoe UI"/>
              </a:defRPr>
            </a:pPr>
            <a:r>
              <a:t>Group decides</a:t>
            </a:r>
          </a:p>
          <a:p>
            <a:r>
              <a:t>and heads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09728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253E"/>
                </a:solidFill>
                <a:latin typeface="Segoe UI"/>
              </a:defRPr>
            </a:pPr>
            <a:r>
              <a:t>Less chat chaos. More real-life moments.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Approach: Minimal V1 With Real 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5212080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2834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53E"/>
                </a:solidFill>
                <a:latin typeface="Segoe UI"/>
              </a:defRPr>
            </a:pPr>
            <a:r>
              <a:t>Build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Flutter app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Rust core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SQLite local-first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291840" cy="5212080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1325880"/>
            <a:ext cx="2834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53E"/>
                </a:solidFill>
                <a:latin typeface="Segoe UI"/>
              </a:defRPr>
            </a:pPr>
            <a:r>
              <a:t>Prove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Rust tests + gates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Flutter tests + smoke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Deterministic UI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097280"/>
            <a:ext cx="3291840" cy="5212080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325880"/>
            <a:ext cx="2834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53E"/>
                </a:solidFill>
                <a:latin typeface="Segoe UI"/>
              </a:defRPr>
            </a:pPr>
            <a:r>
              <a:t>Learn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Pilot with classmates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Collect usage stories</a:t>
            </a:r>
          </a:p>
          <a:p>
            <a:pPr>
              <a:defRPr sz="1800">
                <a:solidFill>
                  <a:srgbClr val="19253E"/>
                </a:solidFill>
                <a:latin typeface="Segoe UI"/>
              </a:defRPr>
            </a:pPr>
            <a:r>
              <a:t>Improve ranking +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Future AI Agent Add-ons: The Squad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74920" cy="2011680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Planner Agent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Crafts 2-3 concrete plans with tradeoffs.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097280"/>
            <a:ext cx="5074920" cy="2011680"/>
          </a:xfrm>
          <a:prstGeom prst="roundRect">
            <a:avLst/>
          </a:prstGeom>
          <a:solidFill>
            <a:srgbClr val="FF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32588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Memory Agent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Remembers favorites, budgets, and no-go picks.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074920" cy="2011680"/>
          </a:xfrm>
          <a:prstGeom prst="roundRect">
            <a:avLst/>
          </a:prstGeom>
          <a:solidFill>
            <a:srgbClr val="B0F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8620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Coordination Agent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Runs invites, polls, and attendance effortlessly.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657600"/>
            <a:ext cx="5074920" cy="2011680"/>
          </a:xfrm>
          <a:prstGeom prst="roundRect">
            <a:avLst/>
          </a:prstGeom>
          <a:solidFill>
            <a:srgbClr val="4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88620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53E"/>
                </a:solidFill>
                <a:latin typeface="Segoe UI"/>
              </a:defRPr>
            </a:pPr>
            <a:r>
              <a:t>Context Agent</a:t>
            </a:r>
          </a:p>
          <a:p>
            <a:pPr>
              <a:defRPr sz="1600">
                <a:solidFill>
                  <a:srgbClr val="19253E"/>
                </a:solidFill>
                <a:latin typeface="Segoe UI"/>
              </a:defRPr>
            </a:pPr>
            <a:r>
              <a:t>Adapts to weather, timing, and group vibe.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972800" cy="5394960"/>
          </a:xfrm>
          <a:prstGeom prst="roundRect">
            <a:avLst/>
          </a:prstGeom>
          <a:solidFill>
            <a:srgbClr val="E4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9253E"/>
                </a:solidFill>
                <a:latin typeface="Segoe UI"/>
              </a:defRPr>
            </a:pPr>
            <a:r>
              <a:t>For people: easier plans means more shared memories.</a:t>
            </a:r>
          </a:p>
          <a:p>
            <a:pPr>
              <a:defRPr sz="2400">
                <a:solidFill>
                  <a:srgbClr val="19253E"/>
                </a:solidFill>
                <a:latin typeface="Segoe UI"/>
              </a:defRPr>
            </a:pPr>
            <a:r>
              <a:t>For local communities: better discovery of nearby places and events.</a:t>
            </a:r>
          </a:p>
          <a:p>
            <a:pPr>
              <a:defRPr sz="2400">
                <a:solidFill>
                  <a:srgbClr val="19253E"/>
                </a:solidFill>
                <a:latin typeface="Segoe UI"/>
              </a:defRPr>
            </a:pPr>
            <a:r>
              <a:t>For contributors: build a real product with clear mission and visible user value.</a:t>
            </a:r>
          </a:p>
          <a:p>
            <a:pPr>
              <a:defRPr sz="2400">
                <a:solidFill>
                  <a:srgbClr val="19253E"/>
                </a:solidFill>
                <a:latin typeface="Segoe UI"/>
              </a:defRPr>
            </a:pPr>
            <a:r>
              <a:t>For the future: stable V1 base to grow into a true social AI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146304" cy="146304"/>
          </a:xfrm>
          <a:prstGeom prst="ellipse">
            <a:avLst/>
          </a:prstGeom>
          <a:solidFill>
            <a:srgbClr val="4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" y="868680"/>
            <a:ext cx="118872" cy="118872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640080"/>
            <a:ext cx="100584" cy="100584"/>
          </a:xfrm>
          <a:prstGeom prst="ellipse">
            <a:avLst/>
          </a:prstGeom>
          <a:solidFill>
            <a:srgbClr val="FF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685800"/>
            <a:ext cx="128016" cy="128016"/>
          </a:xfrm>
          <a:prstGeom prst="ellipse">
            <a:avLst/>
          </a:prstGeom>
          <a:solidFill>
            <a:srgbClr val="B0F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868680"/>
            <a:ext cx="109728" cy="109728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548640"/>
            <a:ext cx="91440" cy="91440"/>
          </a:xfrm>
          <a:prstGeom prst="ellipse">
            <a:avLst/>
          </a:prstGeom>
          <a:solidFill>
            <a:srgbClr val="40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6217920"/>
            <a:ext cx="109728" cy="109728"/>
          </a:xfrm>
          <a:prstGeom prst="ellipse">
            <a:avLst/>
          </a:prstGeom>
          <a:solidFill>
            <a:srgbClr val="FFB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0" y="6126480"/>
            <a:ext cx="146304" cy="146304"/>
          </a:xfrm>
          <a:prstGeom prst="ellipse">
            <a:avLst/>
          </a:prstGeom>
          <a:solidFill>
            <a:srgbClr val="B0F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6355080"/>
            <a:ext cx="91440" cy="91440"/>
          </a:xfrm>
          <a:prstGeom prst="ellipse">
            <a:avLst/>
          </a:prstGeom>
          <a:solidFill>
            <a:srgbClr val="FFD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"/>
            <a:ext cx="11292840" cy="384048"/>
          </a:xfrm>
          <a:prstGeom prst="roundRect">
            <a:avLst/>
          </a:prstGeom>
          <a:solidFill>
            <a:srgbClr val="3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Join The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4300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If this problem feels personal, you are exactly who should be on this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651760"/>
            <a:ext cx="10881360" cy="3108960"/>
          </a:xfrm>
          <a:prstGeom prst="roundRect">
            <a:avLst/>
          </a:prstGeom>
          <a:solidFill>
            <a:srgbClr val="1F3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26080"/>
            <a:ext cx="10241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Ways to contribute now: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Product: define user stories and pilot feedback loops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Engineering: Flutter UI polish, Rust logic, tests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Growth: onboard friends/classmates as early users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AI: prototype future agents once V1 usage patterns are clear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