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82880" y="4663440"/>
            <a:ext cx="12618720" cy="320040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0" b="1">
                <a:solidFill>
                  <a:srgbClr val="0F0F12"/>
                </a:solidFill>
                <a:latin typeface="Segoe UI"/>
              </a:defRPr>
            </a:pPr>
            <a:r>
              <a:t>STROLL: Your</a:t>
            </a:r>
            <a:br/>
            <a:r>
              <a:t>Social Copilot</a:t>
            </a:r>
          </a:p>
          <a:p>
            <a:pPr>
              <a:defRPr sz="2800">
                <a:solidFill>
                  <a:srgbClr val="545458"/>
                </a:solidFill>
                <a:latin typeface="Segoe UI"/>
              </a:defRPr>
            </a:pPr>
            <a:r>
              <a:t>Turning group chat chaos into real-world connection.</a:t>
            </a:r>
          </a:p>
        </p:txBody>
      </p:sp>
      <p:sp>
        <p:nvSpPr>
          <p:cNvPr id="4" name="Teardrop 3"/>
          <p:cNvSpPr/>
          <p:nvPr/>
        </p:nvSpPr>
        <p:spPr>
          <a:xfrm>
            <a:off x="8046720" y="2011680"/>
            <a:ext cx="1828800" cy="2377440"/>
          </a:xfrm>
          <a:prstGeom prst="teardrop">
            <a:avLst/>
          </a:prstGeom>
          <a:solidFill>
            <a:srgbClr val="78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58784" y="2532888"/>
            <a:ext cx="822960" cy="822960"/>
          </a:xfrm>
          <a:prstGeom prst="ellipse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40+ messages and still no plan.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3383280"/>
            <a:ext cx="12618720" cy="73152"/>
          </a:xfrm>
          <a:prstGeom prst="roundRect">
            <a:avLst/>
          </a:prstGeom>
          <a:solidFill>
            <a:srgbClr val="545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572000" y="2011680"/>
            <a:ext cx="3017520" cy="2011680"/>
          </a:xfrm>
          <a:prstGeom prst="cloud">
            <a:avLst/>
          </a:prstGeom>
          <a:solidFill>
            <a:srgbClr val="DF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834640"/>
            <a:ext cx="2651760" cy="15087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34640"/>
            <a:ext cx="82296" cy="1508760"/>
          </a:xfrm>
          <a:prstGeom prst="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Random Ideas</a:t>
            </a:r>
          </a:p>
          <a:p>
            <a:pPr>
              <a:defRPr sz="1400">
                <a:solidFill>
                  <a:srgbClr val="0F0F12"/>
                </a:solidFill>
                <a:latin typeface="Segoe UI"/>
              </a:defRPr>
            </a:pPr>
            <a:r>
              <a:t>Suggestions are fragmented, uncurated, and hard to compare.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834640"/>
            <a:ext cx="2651760" cy="15087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8280" y="2834640"/>
            <a:ext cx="82296" cy="1508760"/>
          </a:xfrm>
          <a:prstGeom prst="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29718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Decision Fatigue</a:t>
            </a:r>
          </a:p>
          <a:p>
            <a:pPr>
              <a:defRPr sz="1400">
                <a:solidFill>
                  <a:srgbClr val="0F0F12"/>
                </a:solidFill>
                <a:latin typeface="Segoe UI"/>
              </a:defRPr>
            </a:pPr>
            <a:r>
              <a:t>Endless scrolling and maybe limbo kill momentum.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983480"/>
            <a:ext cx="429768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4983480"/>
            <a:ext cx="82296" cy="1371600"/>
          </a:xfrm>
          <a:prstGeom prst="rect">
            <a:avLst/>
          </a:prstGeom>
          <a:solidFill>
            <a:srgbClr val="E3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19" y="5120640"/>
            <a:ext cx="4023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The Result</a:t>
            </a:r>
          </a:p>
          <a:p>
            <a:pPr>
              <a:defRPr sz="1500">
                <a:solidFill>
                  <a:srgbClr val="0F0F12"/>
                </a:solidFill>
                <a:latin typeface="Segoe UI"/>
              </a:defRPr>
            </a:pPr>
            <a:r>
              <a:t>Friends default to staying in and miss great local spots.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The 'Waze' for your free time.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2468880"/>
            <a:ext cx="12618720" cy="201168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828800"/>
            <a:ext cx="182880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0F12"/>
                </a:solidFill>
                <a:latin typeface="Segoe UI"/>
              </a:defRPr>
            </a:pPr>
            <a:r>
              <a:t>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182880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0F12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182880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0F12"/>
                </a:solidFill>
                <a:latin typeface="Segoe UI"/>
              </a:defRPr>
            </a:pPr>
            <a:r>
              <a:t>Calendar + Friends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828800"/>
            <a:ext cx="182880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0F12"/>
                </a:solidFill>
                <a:latin typeface="Segoe UI"/>
              </a:defRPr>
            </a:pPr>
            <a:r>
              <a:t>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1828800" cy="13716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0F12"/>
                </a:solidFill>
                <a:latin typeface="Segoe UI"/>
              </a:defRPr>
            </a:pPr>
            <a:r>
              <a:t>STROLL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00600"/>
            <a:ext cx="3749039" cy="17830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347471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0F12"/>
                </a:solidFill>
                <a:latin typeface="Segoe UI"/>
              </a:defRPr>
            </a:pPr>
            <a:r>
              <a:t>The Quickest Route</a:t>
            </a:r>
          </a:p>
          <a:p>
            <a:pPr>
              <a:defRPr sz="1500">
                <a:solidFill>
                  <a:srgbClr val="0F0F12"/>
                </a:solidFill>
                <a:latin typeface="Segoe UI"/>
              </a:defRPr>
            </a:pPr>
            <a:r>
              <a:t>Go from vague idea to coordinated real-world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800600"/>
            <a:ext cx="3749039" cy="17830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937760"/>
            <a:ext cx="347471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0F12"/>
                </a:solidFill>
                <a:latin typeface="Segoe UI"/>
              </a:defRPr>
            </a:pPr>
            <a:r>
              <a:t>Playlist Curation</a:t>
            </a:r>
          </a:p>
          <a:p>
            <a:pPr>
              <a:defRPr sz="1500">
                <a:solidFill>
                  <a:srgbClr val="0F0F12"/>
                </a:solidFill>
                <a:latin typeface="Segoe UI"/>
              </a:defRPr>
            </a:pPr>
            <a:r>
              <a:t>Recommendations curated to your group context, not random feeds.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800600"/>
            <a:ext cx="3154680" cy="17830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4937760"/>
            <a:ext cx="2880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F0F12"/>
                </a:solidFill>
                <a:latin typeface="Segoe UI"/>
              </a:defRPr>
            </a:pPr>
            <a:r>
              <a:t>Frictionless Intent</a:t>
            </a:r>
          </a:p>
          <a:p>
            <a:pPr>
              <a:defRPr sz="1500">
                <a:solidFill>
                  <a:srgbClr val="0F0F12"/>
                </a:solidFill>
                <a:latin typeface="Segoe UI"/>
              </a:defRPr>
            </a:pPr>
            <a:r>
              <a:t>One good question, clear options, faster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From 'maybe' to 'confirmed' in 10 minutes.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3383280"/>
            <a:ext cx="12618720" cy="329184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3218688"/>
            <a:ext cx="621792" cy="621792"/>
          </a:xfrm>
          <a:prstGeom prst="ellipse">
            <a:avLst/>
          </a:prstGeom>
          <a:solidFill>
            <a:srgbClr val="FFFFFF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8716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Segoe UI"/>
              </a:defRPr>
            </a:pPr>
            <a:r>
              <a:t>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397763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Segoe UI"/>
              </a:defRPr>
            </a:pPr>
            <a:r>
              <a:t>Friends ask:</a:t>
            </a:r>
          </a:p>
          <a:p>
            <a:r>
              <a:t>What should we do?</a:t>
            </a:r>
          </a:p>
        </p:txBody>
      </p:sp>
      <p:sp>
        <p:nvSpPr>
          <p:cNvPr id="7" name="Oval 6"/>
          <p:cNvSpPr/>
          <p:nvPr/>
        </p:nvSpPr>
        <p:spPr>
          <a:xfrm>
            <a:off x="3611880" y="3218688"/>
            <a:ext cx="621792" cy="621792"/>
          </a:xfrm>
          <a:prstGeom prst="ellipse">
            <a:avLst/>
          </a:prstGeom>
          <a:solidFill>
            <a:srgbClr val="FFFFFF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48716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Segoe UI"/>
              </a:defRPr>
            </a:pPr>
            <a:r>
              <a:t>8:12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97763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Segoe UI"/>
              </a:defRPr>
            </a:pPr>
            <a:r>
              <a:t>Ask STROLL:</a:t>
            </a:r>
          </a:p>
          <a:p>
            <a:r>
              <a:t>Find cheap food nearby.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218688"/>
            <a:ext cx="621792" cy="621792"/>
          </a:xfrm>
          <a:prstGeom prst="ellipse">
            <a:avLst/>
          </a:prstGeom>
          <a:solidFill>
            <a:srgbClr val="FFFFFF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48716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Segoe UI"/>
              </a:defRPr>
            </a:pPr>
            <a:r>
              <a:t>8:15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97763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Segoe UI"/>
              </a:defRPr>
            </a:pPr>
            <a:r>
              <a:t>Get curated options</a:t>
            </a:r>
          </a:p>
          <a:p>
            <a:r>
              <a:t>and a clear summary.</a:t>
            </a:r>
          </a:p>
        </p:txBody>
      </p:sp>
      <p:sp>
        <p:nvSpPr>
          <p:cNvPr id="13" name="Oval 12"/>
          <p:cNvSpPr/>
          <p:nvPr/>
        </p:nvSpPr>
        <p:spPr>
          <a:xfrm>
            <a:off x="9006840" y="3218688"/>
            <a:ext cx="621792" cy="621792"/>
          </a:xfrm>
          <a:prstGeom prst="ellipse">
            <a:avLst/>
          </a:prstGeom>
          <a:solidFill>
            <a:srgbClr val="FFFFFF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48716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Segoe UI"/>
              </a:defRPr>
            </a:pPr>
            <a:r>
              <a:t>8:20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97763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Segoe UI"/>
              </a:defRPr>
            </a:pPr>
            <a:r>
              <a:t>Group votes, decides,</a:t>
            </a:r>
          </a:p>
          <a:p>
            <a:r>
              <a:t>and heads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Turning voice intent</a:t>
            </a:r>
            <a:br/>
            <a:r>
              <a:t>into locked-in plans.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2926080"/>
            <a:ext cx="12618720" cy="182880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00200" y="1828800"/>
            <a:ext cx="1280160" cy="2743200"/>
          </a:xfrm>
          <a:prstGeom prst="roundRect">
            <a:avLst/>
          </a:prstGeom>
          <a:solidFill>
            <a:srgbClr val="F1F4FA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892040"/>
            <a:ext cx="3611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Segoe UI"/>
              </a:defRPr>
            </a:pPr>
            <a:r>
              <a:t>Voice Agent</a:t>
            </a:r>
          </a:p>
          <a:p>
            <a:pPr>
              <a:defRPr sz="1300">
                <a:latin typeface="Segoe UI"/>
              </a:defRPr>
            </a:pPr>
            <a:r>
              <a:t>Speak or type intent directly into the app to skip scrolling.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828800"/>
            <a:ext cx="1280160" cy="2743200"/>
          </a:xfrm>
          <a:prstGeom prst="roundRect">
            <a:avLst/>
          </a:prstGeom>
          <a:solidFill>
            <a:srgbClr val="F1F4FA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4892040"/>
            <a:ext cx="3611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Segoe UI"/>
              </a:defRPr>
            </a:pPr>
            <a:r>
              <a:t>Smart Feed</a:t>
            </a:r>
          </a:p>
          <a:p>
            <a:pPr>
              <a:defRPr sz="1300">
                <a:latin typeface="Segoe UI"/>
              </a:defRPr>
            </a:pPr>
            <a:r>
              <a:t>Localized recommendations and social context delivered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828800"/>
            <a:ext cx="1280160" cy="2743200"/>
          </a:xfrm>
          <a:prstGeom prst="roundRect">
            <a:avLst/>
          </a:prstGeom>
          <a:solidFill>
            <a:srgbClr val="F1F4FA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892040"/>
            <a:ext cx="3611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Segoe UI"/>
              </a:defRPr>
            </a:pPr>
            <a:r>
              <a:t>Action Links</a:t>
            </a:r>
          </a:p>
          <a:p>
            <a:pPr>
              <a:defRPr sz="1300">
                <a:latin typeface="Segoe UI"/>
              </a:defRPr>
            </a:pPr>
            <a:r>
              <a:t>Follow, review requests, and lock final plans with your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Built for speed, reliability,</a:t>
            </a:r>
            <a:br/>
            <a:r>
              <a:t>and AI-ready growth.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3566160"/>
            <a:ext cx="12618720" cy="292608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9202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4434840"/>
            <a:ext cx="3611880" cy="19659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3337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Cross-Platform UI</a:t>
            </a:r>
          </a:p>
          <a:p>
            <a:pPr>
              <a:defRPr sz="1300">
                <a:solidFill>
                  <a:srgbClr val="0F0F12"/>
                </a:solidFill>
                <a:latin typeface="Segoe UI"/>
              </a:defRPr>
            </a:pPr>
            <a:r>
              <a:t>Flutter delivers consistent UX on iOS and Android from day one.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9202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4434840"/>
            <a:ext cx="3611880" cy="19659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572000"/>
            <a:ext cx="3337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Local-First Engine</a:t>
            </a:r>
          </a:p>
          <a:p>
            <a:pPr>
              <a:defRPr sz="1300">
                <a:solidFill>
                  <a:srgbClr val="0F0F12"/>
                </a:solidFill>
                <a:latin typeface="Segoe UI"/>
              </a:defRPr>
            </a:pPr>
            <a:r>
              <a:t>Rust logic + SQLite persistence keep recommendations fast and dependable.</a:t>
            </a:r>
          </a:p>
        </p:txBody>
      </p:sp>
      <p:sp>
        <p:nvSpPr>
          <p:cNvPr id="10" name="Oval 9"/>
          <p:cNvSpPr/>
          <p:nvPr/>
        </p:nvSpPr>
        <p:spPr>
          <a:xfrm>
            <a:off x="9875520" y="19202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4434840"/>
            <a:ext cx="3611880" cy="19659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4572000"/>
            <a:ext cx="3337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0F12"/>
                </a:solidFill>
                <a:latin typeface="Segoe UI"/>
              </a:defRPr>
            </a:pPr>
            <a:r>
              <a:t>AI-Ready Base</a:t>
            </a:r>
          </a:p>
          <a:p>
            <a:pPr>
              <a:defRPr sz="1300">
                <a:solidFill>
                  <a:srgbClr val="0F0F12"/>
                </a:solidFill>
                <a:latin typeface="Segoe UI"/>
              </a:defRPr>
            </a:pPr>
            <a:r>
              <a:t>Typed contracts and deterministic states make future agents easy to plug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0F0F12"/>
                </a:solidFill>
                <a:latin typeface="Segoe UI"/>
              </a:defRPr>
            </a:pPr>
            <a:r>
              <a:t>Proof We Can Ship</a:t>
            </a:r>
          </a:p>
          <a:p>
            <a:pPr>
              <a:defRPr sz="2800">
                <a:solidFill>
                  <a:srgbClr val="545458"/>
                </a:solidFill>
                <a:latin typeface="Segoe UI"/>
              </a:defRPr>
            </a:pPr>
            <a:r>
              <a:t>Current validation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2331720"/>
            <a:ext cx="12618720" cy="146304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657600" cy="2743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82296" cy="2743200"/>
          </a:xfrm>
          <a:prstGeom prst="rect">
            <a:avLst/>
          </a:prstGeom>
          <a:solidFill>
            <a:srgbClr val="1B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3832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0F12"/>
                </a:solidFill>
                <a:latin typeface="Segoe UI"/>
              </a:defRPr>
            </a:pPr>
            <a:r>
              <a:t>Rust Gates: PASS</a:t>
            </a:r>
          </a:p>
          <a:p>
            <a:pPr>
              <a:defRPr sz="1400">
                <a:solidFill>
                  <a:srgbClr val="0F0F12"/>
                </a:solidFill>
                <a:latin typeface="Segoe UI"/>
              </a:defRPr>
            </a:pPr>
            <a:r>
              <a:t>cargo fmt --check</a:t>
            </a:r>
            <a:br/>
            <a:r>
              <a:t>cargo clippy -- -D warnings</a:t>
            </a:r>
            <a:br/>
            <a:r>
              <a:t>cargo test</a:t>
            </a:r>
            <a:br/>
            <a:br/>
            <a:r>
              <a:t>16 tests passing across unit/integration/API/SQLite.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743200"/>
            <a:ext cx="3657600" cy="2743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2743200"/>
            <a:ext cx="82296" cy="2743200"/>
          </a:xfrm>
          <a:prstGeom prst="rect">
            <a:avLst/>
          </a:prstGeom>
          <a:solidFill>
            <a:srgbClr val="1B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880360"/>
            <a:ext cx="33832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0F12"/>
                </a:solidFill>
                <a:latin typeface="Segoe UI"/>
              </a:defRPr>
            </a:pPr>
            <a:r>
              <a:t>SQLite Integration: LIVE</a:t>
            </a:r>
          </a:p>
          <a:p>
            <a:pPr>
              <a:defRPr sz="1400">
                <a:solidFill>
                  <a:srgbClr val="0F0F12"/>
                </a:solidFill>
                <a:latin typeface="Segoe UI"/>
              </a:defRPr>
            </a:pPr>
            <a:r>
              <a:t>Schema + seed-once bootstrap</a:t>
            </a:r>
            <a:br/>
            <a:r>
              <a:t>Write-through follow/save</a:t>
            </a:r>
            <a:br/>
            <a:r>
              <a:t>Hydration on restart</a:t>
            </a:r>
            <a:br/>
            <a:br/>
            <a:r>
              <a:t>Persistence restart tests passing.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3154680" cy="2743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2743200"/>
            <a:ext cx="82296" cy="2743200"/>
          </a:xfrm>
          <a:prstGeom prst="rect">
            <a:avLst/>
          </a:prstGeom>
          <a:solidFill>
            <a:srgbClr val="E3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880360"/>
            <a:ext cx="288036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F0F12"/>
                </a:solidFill>
                <a:latin typeface="Segoe UI"/>
              </a:defRPr>
            </a:pPr>
            <a:r>
              <a:t>Flutter Status</a:t>
            </a:r>
          </a:p>
          <a:p>
            <a:pPr>
              <a:defRPr sz="1300">
                <a:solidFill>
                  <a:srgbClr val="0F0F12"/>
                </a:solidFill>
                <a:latin typeface="Segoe UI"/>
              </a:defRPr>
            </a:pPr>
            <a:r>
              <a:t>Code + tests are wired.</a:t>
            </a:r>
            <a:br/>
            <a:r>
              <a:t>Final gate run depends on Flutter SDK install in dev env.</a:t>
            </a:r>
            <a:br/>
            <a:br/>
            <a:r>
              <a:t>Bootstrap scripts included.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Curing digital fatigue through real-world connection.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7899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090672"/>
            <a:ext cx="107899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69663"/>
            <a:ext cx="107899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248656"/>
            <a:ext cx="107899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7480" y="2011680"/>
            <a:ext cx="18288" cy="4160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2011680"/>
            <a:ext cx="18288" cy="4160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0F12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06324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19191"/>
                </a:solidFill>
                <a:latin typeface="Segoe UI"/>
              </a:defRPr>
            </a:pPr>
            <a:r>
              <a:t>The Status Quo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5FDC"/>
                </a:solidFill>
                <a:latin typeface="Segoe UI"/>
              </a:defRPr>
            </a:pPr>
            <a:r>
              <a:t>With STROLL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latin typeface="Segoe UI"/>
              </a:defRPr>
            </a:pPr>
            <a:r>
              <a:t>Decision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43200"/>
            <a:ext cx="3520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Hours of fragmented texting and waiting.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743200"/>
            <a:ext cx="4251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Minutes to vote, decide, and 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latin typeface="Segoe UI"/>
              </a:defRPr>
            </a:pPr>
            <a: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22191"/>
            <a:ext cx="3520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Endless feeds, missing local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822191"/>
            <a:ext cx="4251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Contextual, trusted local recommendations.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01183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latin typeface="Segoe UI"/>
              </a:defRPr>
            </a:pPr>
            <a:r>
              <a:t>Social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901183"/>
            <a:ext cx="3520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Defaulting to staying indoors.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901183"/>
            <a:ext cx="4251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Segoe UI"/>
              </a:defRPr>
            </a:pPr>
            <a:r>
              <a:t>Actually seeing friends and exploring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0F12"/>
                </a:solidFill>
                <a:latin typeface="Segoe UI"/>
              </a:defRPr>
            </a:pPr>
            <a:r>
              <a:t>Help us shape the first</a:t>
            </a:r>
            <a:br/>
            <a:r>
              <a:t>version of STROLL.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82880" y="2971800"/>
            <a:ext cx="12618720" cy="201168"/>
          </a:xfrm>
          <a:prstGeom prst="roundRect">
            <a:avLst/>
          </a:prstGeom>
          <a:solidFill>
            <a:srgbClr val="28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4937760" cy="1600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500" b="1">
                <a:latin typeface="Segoe UI"/>
              </a:defRPr>
            </a:pPr>
            <a:r>
              <a:t>If planning hangouts feels harder than it should, STROLL is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egoe UI"/>
              </a:defRPr>
            </a:pPr>
            <a:r>
              <a:t>Community: Pilot with friends this weekend and share usage stories.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46904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egoe UI"/>
              </a:defRPr>
            </a:pPr>
            <a:r>
              <a:t>Product &amp; Story: Define core moments and feedback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33288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Segoe UI"/>
              </a:defRPr>
            </a:pPr>
            <a:r>
              <a:t>Engineering: Build the fast minimal V1 with Flutter + Rust.</a:t>
            </a:r>
          </a:p>
        </p:txBody>
      </p:sp>
      <p:pic>
        <p:nvPicPr>
          <p:cNvPr id="8" name="Picture 7" descr="q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429000"/>
            <a:ext cx="2377440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0" y="5989320"/>
            <a:ext cx="3474720" cy="502920"/>
          </a:xfrm>
          <a:prstGeom prst="roundRect">
            <a:avLst/>
          </a:prstGeom>
          <a:solidFill>
            <a:srgbClr val="14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Scan QR -&gt; Join Pilot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